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8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59360" y="331928"/>
            <a:ext cx="2984600" cy="2045855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inecube-logo-ve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58368"/>
            <a:ext cx="2331720" cy="13929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2788920"/>
            <a:ext cx="10820095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 i="0">
                <a:solidFill>
                  <a:srgbClr val="F5F2F3"/>
                </a:solidFill>
                <a:latin typeface="Segoe UI"/>
              </a:rPr>
              <a:t>Order 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611880"/>
            <a:ext cx="10820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 i="0">
                <a:solidFill>
                  <a:srgbClr val="F59726"/>
                </a:solidFill>
                <a:latin typeface="Segoe UI"/>
              </a:rPr>
              <a:t>NineCube.Digital — a reliable order + stock feature for a small retailer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343400"/>
            <a:ext cx="1082009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B9B3B5"/>
                </a:solidFill>
                <a:latin typeface="Segoe UI"/>
              </a:rPr>
              <a:t>ASP.NET Core 10 Web API · EF Core · SQL Server · JWT + 4 roles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B9B3B5"/>
                </a:solidFill>
                <a:latin typeface="Segoe UI"/>
              </a:rPr>
              <a:t>React 18 + TypeScript SPA · hand-written glass / neumorphic CSS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B9B3B5"/>
                </a:solidFill>
                <a:latin typeface="Segoe UI"/>
              </a:rPr>
              <a:t>108 backend integration tests · 159 frontend tests · 107 browser tests — all green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B9B3B5"/>
                </a:solidFill>
                <a:latin typeface="Segoe UI"/>
              </a:rPr>
              <a:t>183-product catalogue · 55 endpoints · 28 annotated screens in the user manual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989320"/>
            <a:ext cx="108200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B9B3B5"/>
                </a:solidFill>
                <a:latin typeface="Segoe UI"/>
              </a:rPr>
              <a:t>Candidate: Yeasin Arafat · Submission: 15 October · figures on the slides measured 16 October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8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1074299" y="391364"/>
            <a:ext cx="497432" cy="553571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inecube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0135" y="457200"/>
            <a:ext cx="365760" cy="4218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411480"/>
            <a:ext cx="1010686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F59726"/>
                </a:solidFill>
                <a:latin typeface="Segoe UI"/>
              </a:rPr>
              <a:t>PROBLEM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106863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5F2F3"/>
                </a:solidFill>
                <a:latin typeface="Segoe UI"/>
              </a:rPr>
              <a:t>The four problems, and what actually fixes each one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490472"/>
          <a:ext cx="10820095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6698"/>
                <a:gridCol w="3606698"/>
                <a:gridCol w="3606699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59726"/>
                          </a:solidFill>
                          <a:latin typeface="Segoe UI"/>
                        </a:rPr>
                        <a:t>Reported problem</a:t>
                      </a:r>
                    </a:p>
                  </a:txBody>
                  <a:tcPr marL="73152" marR="73152">
                    <a:solidFill>
                      <a:srgbClr val="2320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59726"/>
                          </a:solidFill>
                          <a:latin typeface="Segoe UI"/>
                        </a:rPr>
                        <a:t>Root cause</a:t>
                      </a:r>
                    </a:p>
                  </a:txBody>
                  <a:tcPr marL="73152" marR="73152">
                    <a:solidFill>
                      <a:srgbClr val="2320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59726"/>
                          </a:solidFill>
                          <a:latin typeface="Segoe UI"/>
                        </a:rPr>
                        <a:t>What this implementation does</a:t>
                      </a:r>
                    </a:p>
                  </a:txBody>
                  <a:tcPr marL="73152" marR="73152">
                    <a:solidFill>
                      <a:srgbClr val="23202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F5F2F3"/>
                          </a:solidFill>
                          <a:latin typeface="Segoe UI"/>
                        </a:rPr>
                        <a:t>Orders accepted beyond stock</a:t>
                      </a:r>
                    </a:p>
                  </a:txBody>
                  <a:tcPr marL="73152" marR="73152">
                    <a:solidFill>
                      <a:srgbClr val="1B18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B9B3B5"/>
                          </a:solidFill>
                          <a:latin typeface="Segoe UI"/>
                        </a:rPr>
                        <a:t>Availability checked in code, written in a second step</a:t>
                      </a:r>
                    </a:p>
                  </a:txBody>
                  <a:tcPr marL="73152" marR="73152">
                    <a:solidFill>
                      <a:srgbClr val="1B18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B9B3B5"/>
                          </a:solidFill>
                          <a:latin typeface="Segoe UI"/>
                        </a:rPr>
                        <a:t>The rule lives inside the UPDATE: `… SET Stock = Stock - @qty WHERE IsActive = 1 AND Stock &gt;= @qty`</a:t>
                      </a:r>
                    </a:p>
                  </a:txBody>
                  <a:tcPr marL="73152" marR="73152">
                    <a:solidFill>
                      <a:srgbClr val="1B181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F5F2F3"/>
                          </a:solidFill>
                          <a:latin typeface="Segoe UI"/>
                        </a:rPr>
                        <a:t>Inventory inconsistent under load</a:t>
                      </a:r>
                    </a:p>
                  </a:txBody>
                  <a:tcPr marL="73152" marR="73152">
                    <a:solidFill>
                      <a:srgbClr val="201D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B9B3B5"/>
                          </a:solidFill>
                          <a:latin typeface="Segoe UI"/>
                        </a:rPr>
                        <a:t>Read-then-write (lost update)</a:t>
                      </a:r>
                    </a:p>
                  </a:txBody>
                  <a:tcPr marL="73152" marR="73152">
                    <a:solidFill>
                      <a:srgbClr val="201D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B9B3B5"/>
                          </a:solidFill>
                          <a:latin typeface="Segoe UI"/>
                        </a:rPr>
                        <a:t>Never read-then-write. One atomic conditional UPDATE per line + CHECK (StockQuantity &gt;= 0)</a:t>
                      </a:r>
                    </a:p>
                  </a:txBody>
                  <a:tcPr marL="73152" marR="73152">
                    <a:solidFill>
                      <a:srgbClr val="201D1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F5F2F3"/>
                          </a:solidFill>
                          <a:latin typeface="Segoe UI"/>
                        </a:rPr>
                        <a:t>Invalid requests handled inconsistently</a:t>
                      </a:r>
                    </a:p>
                  </a:txBody>
                  <a:tcPr marL="73152" marR="73152">
                    <a:solidFill>
                      <a:srgbClr val="1B18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B9B3B5"/>
                          </a:solidFill>
                          <a:latin typeface="Segoe UI"/>
                        </a:rPr>
                        <a:t>Errors raised ad hoc per endpoint</a:t>
                      </a:r>
                    </a:p>
                  </a:txBody>
                  <a:tcPr marL="73152" marR="73152">
                    <a:solidFill>
                      <a:srgbClr val="1B18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B9B3B5"/>
                          </a:solidFill>
                          <a:latin typeface="Segoe UI"/>
                        </a:rPr>
                        <a:t>One contract: RFC 7807 ProblemDetails + correlation id, one exception middleware</a:t>
                      </a:r>
                    </a:p>
                  </a:txBody>
                  <a:tcPr marL="73152" marR="73152">
                    <a:solidFill>
                      <a:srgbClr val="1B181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F5F2F3"/>
                          </a:solidFill>
                          <a:latin typeface="Segoe UI"/>
                        </a:rPr>
                        <a:t>Staff cannot see availability or status</a:t>
                      </a:r>
                    </a:p>
                  </a:txBody>
                  <a:tcPr marL="73152" marR="73152">
                    <a:solidFill>
                      <a:srgbClr val="201D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B9B3B5"/>
                          </a:solidFill>
                          <a:latin typeface="Segoe UI"/>
                        </a:rPr>
                        <a:t>No single view of stock, no explicit lifecycle</a:t>
                      </a:r>
                    </a:p>
                  </a:txBody>
                  <a:tcPr marL="73152" marR="73152">
                    <a:solidFill>
                      <a:srgbClr val="201D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B9B3B5"/>
                          </a:solidFill>
                          <a:latin typeface="Segoe UI"/>
                        </a:rPr>
                        <a:t>Live stock badges everywhere, explicit status machine, audit trail</a:t>
                      </a:r>
                    </a:p>
                  </a:txBody>
                  <a:tcPr marL="73152" marR="73152">
                    <a:solidFill>
                      <a:srgbClr val="201D1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6309360"/>
            <a:ext cx="108200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B9B3B5"/>
                </a:solidFill>
                <a:latin typeface="Segoe UI"/>
              </a:rPr>
              <a:t>Explicitly not a full e-commerce platform and not an ERP — no payments, no email, no delivery tracking.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8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1074299" y="391364"/>
            <a:ext cx="497432" cy="553571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inecube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0135" y="457200"/>
            <a:ext cx="365760" cy="4218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411480"/>
            <a:ext cx="1010686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F59726"/>
                </a:solidFill>
                <a:latin typeface="Segoe U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106863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5F2F3"/>
                </a:solidFill>
                <a:latin typeface="Segoe UI"/>
              </a:rPr>
              <a:t>One modular monolith, five projects, four modules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90472"/>
            <a:ext cx="10820095" cy="4910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 i="0">
                <a:solidFill>
                  <a:srgbClr val="F5F2F3"/>
                </a:solidFill>
                <a:latin typeface="Segoe UI"/>
              </a:rPr>
              <a:t>• Api — controllers, JWT policies, exception middleware, ProblemDetails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F5F2F3"/>
                </a:solidFill>
                <a:latin typeface="Segoe UI"/>
              </a:rPr>
              <a:t>• Application — services, DTOs, FluentValidation validators, rules re-checked inside the service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F5F2F3"/>
                </a:solidFill>
                <a:latin typeface="Segoe UI"/>
              </a:rPr>
              <a:t>• Domain — entities, status transition rules, typed exceptions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F5F2F3"/>
                </a:solidFill>
                <a:latin typeface="Segoe UI"/>
              </a:rPr>
              <a:t>• Infrastructure — EF Core DbContext + migrations, password hashing, SQL transient-error policy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F5F2F3"/>
                </a:solidFill>
                <a:latin typeface="Segoe UI"/>
              </a:rPr>
              <a:t>• Tests — xUnit integration tests against a real SQL Server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F5F2F3"/>
                </a:solidFill>
                <a:latin typeface="Segoe UI"/>
              </a:rPr>
              <a:t>• 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F59726"/>
                </a:solidFill>
                <a:latin typeface="Segoe UI"/>
              </a:rPr>
              <a:t>• Modules inside them: Catalog · Inventory · Orders · Identity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F5F2F3"/>
                </a:solidFill>
                <a:latin typeface="Segoe UI"/>
              </a:rPr>
              <a:t>• 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57D3A0"/>
                </a:solidFill>
                <a:latin typeface="Segoe UI"/>
              </a:rPr>
              <a:t>• One database transaction per order — order row + stock + ledger commit together or not at all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B9B3B5"/>
                </a:solidFill>
                <a:latin typeface="Segoe UI"/>
              </a:rPr>
              <a:t>• No microservices, no CQRS, no broker, no cache.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8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1074299" y="391364"/>
            <a:ext cx="497432" cy="553571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inecube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0135" y="457200"/>
            <a:ext cx="365760" cy="4218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411480"/>
            <a:ext cx="1010686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F59726"/>
                </a:solidFill>
                <a:latin typeface="Segoe UI"/>
              </a:rPr>
              <a:t>ARCHITECTURE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106863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F5F2F3"/>
                </a:solidFill>
                <a:latin typeface="Segoe UI"/>
              </a:rPr>
              <a:t>Why a modular monolith, not microservices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90472"/>
            <a:ext cx="10820095" cy="4910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 i="0">
                <a:solidFill>
                  <a:srgbClr val="F5F2F3"/>
                </a:solidFill>
                <a:latin typeface="Segoe UI"/>
              </a:rPr>
              <a:t>• The hard requirement is transactional: reserving stock and creating the order must be atomic.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B9B3B5"/>
                </a:solidFill>
                <a:latin typeface="Segoe UI"/>
              </a:rPr>
              <a:t>• A network boundary between Orders and Inventory would turn a rollback into a saga with compensation.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F5F2F3"/>
                </a:solidFill>
                <a:latin typeface="Segoe UI"/>
              </a:rPr>
              <a:t>• Scope and team size are small: one team, one release cadence, one database.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B9B3B5"/>
                </a:solidFill>
                <a:latin typeface="Segoe UI"/>
              </a:rPr>
              <a:t>• Modules are separated by project and by namespace, so a future split is a service extraction, not a rewrite.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F5F2F3"/>
                </a:solidFill>
                <a:latin typeface="Segoe UI"/>
              </a:rPr>
              <a:t>• 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F59726"/>
                </a:solidFill>
                <a:latin typeface="Segoe UI"/>
              </a:rPr>
              <a:t>• Microservices would be justified by: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B9B3B5"/>
                </a:solidFill>
                <a:latin typeface="Segoe UI"/>
              </a:rPr>
              <a:t>– many teams needing independent deploys · genuinely independent scaling · fault isolation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B9B3B5"/>
                </a:solidFill>
                <a:latin typeface="Segoe UI"/>
              </a:rPr>
              <a:t>– regulatory or data-residency separation · a bounded context with a different consistency model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8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1074299" y="391364"/>
            <a:ext cx="497432" cy="553571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inecube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0135" y="457200"/>
            <a:ext cx="365760" cy="4218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411480"/>
            <a:ext cx="1010686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F59726"/>
                </a:solidFill>
                <a:latin typeface="Segoe UI"/>
              </a:rPr>
              <a:t>ROLES &amp; 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106863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F5F2F3"/>
                </a:solidFill>
                <a:latin typeface="Segoe UI"/>
              </a:rPr>
              <a:t>Four roles, and separation of duties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490472"/>
          <a:ext cx="10820095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4019"/>
                <a:gridCol w="2164019"/>
                <a:gridCol w="2164019"/>
                <a:gridCol w="2164019"/>
                <a:gridCol w="2164019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59726"/>
                          </a:solidFill>
                          <a:latin typeface="Segoe UI"/>
                        </a:rPr>
                        <a:t>Capability</a:t>
                      </a:r>
                    </a:p>
                  </a:txBody>
                  <a:tcPr marL="73152" marR="73152">
                    <a:solidFill>
                      <a:srgbClr val="2320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59726"/>
                          </a:solidFill>
                          <a:latin typeface="Segoe UI"/>
                        </a:rPr>
                        <a:t>Customer</a:t>
                      </a:r>
                    </a:p>
                  </a:txBody>
                  <a:tcPr marL="73152" marR="73152">
                    <a:solidFill>
                      <a:srgbClr val="2320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59726"/>
                          </a:solidFill>
                          <a:latin typeface="Segoe UI"/>
                        </a:rPr>
                        <a:t>Staff (Sales)</a:t>
                      </a:r>
                    </a:p>
                  </a:txBody>
                  <a:tcPr marL="73152" marR="73152">
                    <a:solidFill>
                      <a:srgbClr val="2320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59726"/>
                          </a:solidFill>
                          <a:latin typeface="Segoe UI"/>
                        </a:rPr>
                        <a:t>Inventory Mgr</a:t>
                      </a:r>
                    </a:p>
                  </a:txBody>
                  <a:tcPr marL="73152" marR="73152">
                    <a:solidFill>
                      <a:srgbClr val="2320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59726"/>
                          </a:solidFill>
                          <a:latin typeface="Segoe UI"/>
                        </a:rPr>
                        <a:t>Administrator</a:t>
                      </a:r>
                    </a:p>
                  </a:txBody>
                  <a:tcPr marL="73152" marR="73152">
                    <a:solidFill>
                      <a:srgbClr val="23202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F5F2F3"/>
                          </a:solidFill>
                          <a:latin typeface="Segoe UI"/>
                        </a:rPr>
                        <a:t>Browse catalogue + live stock</a:t>
                      </a:r>
                    </a:p>
                  </a:txBody>
                  <a:tcPr marL="73152" marR="73152">
                    <a:solidFill>
                      <a:srgbClr val="1B18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B9B3B5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marL="73152" marR="73152">
                    <a:solidFill>
                      <a:srgbClr val="1B18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B9B3B5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marL="73152" marR="73152">
                    <a:solidFill>
                      <a:srgbClr val="1B18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B9B3B5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marL="73152" marR="73152">
                    <a:solidFill>
                      <a:srgbClr val="1B18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B9B3B5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marL="73152" marR="73152">
                    <a:solidFill>
                      <a:srgbClr val="1B181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F5F2F3"/>
                          </a:solidFill>
                          <a:latin typeface="Segoe UI"/>
                        </a:rPr>
                        <a:t>Place an order</a:t>
                      </a:r>
                    </a:p>
                  </a:txBody>
                  <a:tcPr marL="73152" marR="73152">
                    <a:solidFill>
                      <a:srgbClr val="201D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B9B3B5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marL="73152" marR="73152">
                    <a:solidFill>
                      <a:srgbClr val="201D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B9B3B5"/>
                          </a:solidFill>
                          <a:latin typeface="Segoe UI"/>
                        </a:rPr>
                        <a:t>–</a:t>
                      </a:r>
                    </a:p>
                  </a:txBody>
                  <a:tcPr marL="73152" marR="73152">
                    <a:solidFill>
                      <a:srgbClr val="201D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B9B3B5"/>
                          </a:solidFill>
                          <a:latin typeface="Segoe UI"/>
                        </a:rPr>
                        <a:t>–</a:t>
                      </a:r>
                    </a:p>
                  </a:txBody>
                  <a:tcPr marL="73152" marR="73152">
                    <a:solidFill>
                      <a:srgbClr val="201D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B9B3B5"/>
                          </a:solidFill>
                          <a:latin typeface="Segoe UI"/>
                        </a:rPr>
                        <a:t>– (read-only)</a:t>
                      </a:r>
                    </a:p>
                  </a:txBody>
                  <a:tcPr marL="73152" marR="73152">
                    <a:solidFill>
                      <a:srgbClr val="201D1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F5F2F3"/>
                          </a:solidFill>
                          <a:latin typeface="Segoe UI"/>
                        </a:rPr>
                        <a:t>Read order</a:t>
                      </a:r>
                    </a:p>
                  </a:txBody>
                  <a:tcPr marL="73152" marR="73152">
                    <a:solidFill>
                      <a:srgbClr val="1B18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B9B3B5"/>
                          </a:solidFill>
                          <a:latin typeface="Segoe UI"/>
                        </a:rPr>
                        <a:t>own only (else 404)</a:t>
                      </a:r>
                    </a:p>
                  </a:txBody>
                  <a:tcPr marL="73152" marR="73152">
                    <a:solidFill>
                      <a:srgbClr val="1B18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B9B3B5"/>
                          </a:solidFill>
                          <a:latin typeface="Segoe UI"/>
                        </a:rPr>
                        <a:t>all</a:t>
                      </a:r>
                    </a:p>
                  </a:txBody>
                  <a:tcPr marL="73152" marR="73152">
                    <a:solidFill>
                      <a:srgbClr val="1B18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B9B3B5"/>
                          </a:solidFill>
                          <a:latin typeface="Segoe UI"/>
                        </a:rPr>
                        <a:t>–</a:t>
                      </a:r>
                    </a:p>
                  </a:txBody>
                  <a:tcPr marL="73152" marR="73152">
                    <a:solidFill>
                      <a:srgbClr val="1B18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B9B3B5"/>
                          </a:solidFill>
                          <a:latin typeface="Segoe UI"/>
                        </a:rPr>
                        <a:t>all</a:t>
                      </a:r>
                    </a:p>
                  </a:txBody>
                  <a:tcPr marL="73152" marR="73152">
                    <a:solidFill>
                      <a:srgbClr val="1B181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F5F2F3"/>
                          </a:solidFill>
                          <a:latin typeface="Segoe UI"/>
                        </a:rPr>
                        <a:t>Confirm / reject / ship</a:t>
                      </a:r>
                    </a:p>
                  </a:txBody>
                  <a:tcPr marL="73152" marR="73152">
                    <a:solidFill>
                      <a:srgbClr val="201D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B9B3B5"/>
                          </a:solidFill>
                          <a:latin typeface="Segoe UI"/>
                        </a:rPr>
                        <a:t>–</a:t>
                      </a:r>
                    </a:p>
                  </a:txBody>
                  <a:tcPr marL="73152" marR="73152">
                    <a:solidFill>
                      <a:srgbClr val="201D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B9B3B5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marL="73152" marR="73152">
                    <a:solidFill>
                      <a:srgbClr val="201D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B9B3B5"/>
                          </a:solidFill>
                          <a:latin typeface="Segoe UI"/>
                        </a:rPr>
                        <a:t>–</a:t>
                      </a:r>
                    </a:p>
                  </a:txBody>
                  <a:tcPr marL="73152" marR="73152">
                    <a:solidFill>
                      <a:srgbClr val="201D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B9B3B5"/>
                          </a:solidFill>
                          <a:latin typeface="Segoe UI"/>
                        </a:rPr>
                        <a:t>–</a:t>
                      </a:r>
                    </a:p>
                  </a:txBody>
                  <a:tcPr marL="73152" marR="73152">
                    <a:solidFill>
                      <a:srgbClr val="201D1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F5F2F3"/>
                          </a:solidFill>
                          <a:latin typeface="Segoe UI"/>
                        </a:rPr>
                        <a:t>Cancel an order</a:t>
                      </a:r>
                    </a:p>
                  </a:txBody>
                  <a:tcPr marL="73152" marR="73152">
                    <a:solidFill>
                      <a:srgbClr val="1B18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B9B3B5"/>
                          </a:solidFill>
                          <a:latin typeface="Segoe UI"/>
                        </a:rPr>
                        <a:t>own, Pending/Confirmed</a:t>
                      </a:r>
                    </a:p>
                  </a:txBody>
                  <a:tcPr marL="73152" marR="73152">
                    <a:solidFill>
                      <a:srgbClr val="1B18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B9B3B5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marL="73152" marR="73152">
                    <a:solidFill>
                      <a:srgbClr val="1B18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B9B3B5"/>
                          </a:solidFill>
                          <a:latin typeface="Segoe UI"/>
                        </a:rPr>
                        <a:t>–</a:t>
                      </a:r>
                    </a:p>
                  </a:txBody>
                  <a:tcPr marL="73152" marR="73152">
                    <a:solidFill>
                      <a:srgbClr val="1B18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B9B3B5"/>
                          </a:solidFill>
                          <a:latin typeface="Segoe UI"/>
                        </a:rPr>
                        <a:t>–</a:t>
                      </a:r>
                    </a:p>
                  </a:txBody>
                  <a:tcPr marL="73152" marR="73152">
                    <a:solidFill>
                      <a:srgbClr val="1B181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F5F2F3"/>
                          </a:solidFill>
                          <a:latin typeface="Segoe UI"/>
                        </a:rPr>
                        <a:t>Create/update product, adjust stock</a:t>
                      </a:r>
                    </a:p>
                  </a:txBody>
                  <a:tcPr marL="73152" marR="73152">
                    <a:solidFill>
                      <a:srgbClr val="201D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B9B3B5"/>
                          </a:solidFill>
                          <a:latin typeface="Segoe UI"/>
                        </a:rPr>
                        <a:t>–</a:t>
                      </a:r>
                    </a:p>
                  </a:txBody>
                  <a:tcPr marL="73152" marR="73152">
                    <a:solidFill>
                      <a:srgbClr val="201D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B9B3B5"/>
                          </a:solidFill>
                          <a:latin typeface="Segoe UI"/>
                        </a:rPr>
                        <a:t>–</a:t>
                      </a:r>
                    </a:p>
                  </a:txBody>
                  <a:tcPr marL="73152" marR="73152">
                    <a:solidFill>
                      <a:srgbClr val="201D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B9B3B5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marL="73152" marR="73152">
                    <a:solidFill>
                      <a:srgbClr val="201D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B9B3B5"/>
                          </a:solidFill>
                          <a:latin typeface="Segoe UI"/>
                        </a:rPr>
                        <a:t>read-only</a:t>
                      </a:r>
                    </a:p>
                  </a:txBody>
                  <a:tcPr marL="73152" marR="73152">
                    <a:solidFill>
                      <a:srgbClr val="201D1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F5F2F3"/>
                          </a:solidFill>
                          <a:latin typeface="Segoe UI"/>
                        </a:rPr>
                        <a:t>Sales summary, invoice</a:t>
                      </a:r>
                    </a:p>
                  </a:txBody>
                  <a:tcPr marL="73152" marR="73152">
                    <a:solidFill>
                      <a:srgbClr val="1B18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B9B3B5"/>
                          </a:solidFill>
                          <a:latin typeface="Segoe UI"/>
                        </a:rPr>
                        <a:t>own invoice</a:t>
                      </a:r>
                    </a:p>
                  </a:txBody>
                  <a:tcPr marL="73152" marR="73152">
                    <a:solidFill>
                      <a:srgbClr val="1B18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B9B3B5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marL="73152" marR="73152">
                    <a:solidFill>
                      <a:srgbClr val="1B18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B9B3B5"/>
                          </a:solidFill>
                          <a:latin typeface="Segoe UI"/>
                        </a:rPr>
                        <a:t>–</a:t>
                      </a:r>
                    </a:p>
                  </a:txBody>
                  <a:tcPr marL="73152" marR="73152">
                    <a:solidFill>
                      <a:srgbClr val="1B18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B9B3B5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marL="73152" marR="73152">
                    <a:solidFill>
                      <a:srgbClr val="1B181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F5F2F3"/>
                          </a:solidFill>
                          <a:latin typeface="Segoe UI"/>
                        </a:rPr>
                        <a:t>Users, roles, audit log, settings</a:t>
                      </a:r>
                    </a:p>
                  </a:txBody>
                  <a:tcPr marL="73152" marR="73152">
                    <a:solidFill>
                      <a:srgbClr val="201D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B9B3B5"/>
                          </a:solidFill>
                          <a:latin typeface="Segoe UI"/>
                        </a:rPr>
                        <a:t>–</a:t>
                      </a:r>
                    </a:p>
                  </a:txBody>
                  <a:tcPr marL="73152" marR="73152">
                    <a:solidFill>
                      <a:srgbClr val="201D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B9B3B5"/>
                          </a:solidFill>
                          <a:latin typeface="Segoe UI"/>
                        </a:rPr>
                        <a:t>–</a:t>
                      </a:r>
                    </a:p>
                  </a:txBody>
                  <a:tcPr marL="73152" marR="73152">
                    <a:solidFill>
                      <a:srgbClr val="201D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B9B3B5"/>
                          </a:solidFill>
                          <a:latin typeface="Segoe UI"/>
                        </a:rPr>
                        <a:t>–</a:t>
                      </a:r>
                    </a:p>
                  </a:txBody>
                  <a:tcPr marL="73152" marR="73152">
                    <a:solidFill>
                      <a:srgbClr val="201D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B9B3B5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marL="73152" marR="73152">
                    <a:solidFill>
                      <a:srgbClr val="201D1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6309360"/>
            <a:ext cx="108200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B9B3B5"/>
                </a:solidFill>
                <a:latin typeface="Segoe UI"/>
              </a:rPr>
              <a:t>The person who handles orders cannot freely change stock — that is the design principle, not a limitation.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8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1074299" y="391364"/>
            <a:ext cx="497432" cy="553571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inecube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0135" y="457200"/>
            <a:ext cx="365760" cy="4218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411480"/>
            <a:ext cx="1010686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F59726"/>
                </a:solidFill>
                <a:latin typeface="Segoe UI"/>
              </a:rPr>
              <a:t>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106863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F5F2F3"/>
                </a:solidFill>
                <a:latin typeface="Segoe UI"/>
              </a:rPr>
              <a:t>Data model and the guarantees it enforces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90472"/>
            <a:ext cx="10820095" cy="4910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 i="0">
                <a:solidFill>
                  <a:srgbClr val="F5F2F3"/>
                </a:solidFill>
                <a:latin typeface="Segoe UI"/>
              </a:rPr>
              <a:t>• Product (StockQuantity, RowVersion, Currency, provenance) · Customer · User (Role, IsActive, CustomerId)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F5F2F3"/>
                </a:solidFill>
                <a:latin typeface="Segoe UI"/>
              </a:rPr>
              <a:t>• Order (Status, TotalAmount, IdempotencyKey unique per customer) · OrderItem (name/category/UnitPrice snapshot)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F5F2F3"/>
                </a:solidFill>
                <a:latin typeface="Segoe UI"/>
              </a:rPr>
              <a:t>• Category hierarchy (slug, path, depth ≤ 4) · ProductCategory with one primary · Tag · Brand · ProductLine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F5F2F3"/>
                </a:solidFill>
                <a:latin typeface="Segoe UI"/>
              </a:rPr>
              <a:t>• InventoryMovement — append-only ledger · AuditLog · Setting · Notification (per user, per event)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F5F2F3"/>
                </a:solidFill>
                <a:latin typeface="Segoe UI"/>
              </a:rPr>
              <a:t>• 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F59726"/>
                </a:solidFill>
                <a:latin typeface="Segoe UI"/>
              </a:rPr>
              <a:t>• Constraints do the guarding: CHECK (StockQuantity &gt;= 0), CHECK (Quantity &gt; 0), unique SKU, unique (OrderId, ProductId), and a filtered unique index for one primary category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B9B3B5"/>
                </a:solidFill>
                <a:latin typeface="Segoe UI"/>
              </a:rPr>
              <a:t>• Money is decimal(18,2) — never double. Displayed in BDT; a product carries its own currency so legacy rows stay honest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F5F2F3"/>
                </a:solidFill>
                <a:latin typeface="Segoe UI"/>
              </a:rPr>
              <a:t>• 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57D3A0"/>
                </a:solidFill>
                <a:latin typeface="Segoe UI"/>
              </a:rPr>
              <a:t>• Pending → Confirmed → Shipped    Pending → Rejected    Pending | Confirmed → Cancelled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B9B3B5"/>
                </a:solidFill>
                <a:latin typeface="Segoe UI"/>
              </a:rPr>
              <a:t>• Stock is reserved at placement; cancel/reject release it exactly once (conditional status update)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8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1074299" y="391364"/>
            <a:ext cx="497432" cy="553571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inecube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0135" y="457200"/>
            <a:ext cx="365760" cy="4218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411480"/>
            <a:ext cx="1010686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F59726"/>
                </a:solidFill>
                <a:latin typeface="Segoe UI"/>
              </a:rPr>
              <a:t>THE DATA BEHIND THE CLAIMS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106863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F5F2F3"/>
                </a:solidFill>
                <a:latin typeface="Segoe UI"/>
              </a:rPr>
              <a:t>What is in the system, counted on 16 October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490472"/>
          <a:ext cx="10820095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6698"/>
                <a:gridCol w="3606698"/>
                <a:gridCol w="3606699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59726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73152" marR="73152">
                    <a:solidFill>
                      <a:srgbClr val="2320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59726"/>
                          </a:solidFill>
                          <a:latin typeface="Segoe UI"/>
                        </a:rPr>
                        <a:t>Counted</a:t>
                      </a:r>
                    </a:p>
                  </a:txBody>
                  <a:tcPr marL="73152" marR="73152">
                    <a:solidFill>
                      <a:srgbClr val="2320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59726"/>
                          </a:solidFill>
                          <a:latin typeface="Segoe UI"/>
                        </a:rPr>
                        <a:t>Where the number comes from</a:t>
                      </a:r>
                    </a:p>
                  </a:txBody>
                  <a:tcPr marL="73152" marR="73152">
                    <a:solidFill>
                      <a:srgbClr val="23202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F5F2F3"/>
                          </a:solidFill>
                          <a:latin typeface="Segoe UI"/>
                        </a:rPr>
                        <a:t>Catalogue</a:t>
                      </a:r>
                    </a:p>
                  </a:txBody>
                  <a:tcPr marL="73152" marR="73152">
                    <a:solidFill>
                      <a:srgbClr val="1B18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B9B3B5"/>
                          </a:solidFill>
                          <a:latin typeface="Segoe UI"/>
                        </a:rPr>
                        <a:t>183 products, every one with an image</a:t>
                      </a:r>
                    </a:p>
                  </a:txBody>
                  <a:tcPr marL="73152" marR="73152">
                    <a:solidFill>
                      <a:srgbClr val="1B18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B9B3B5"/>
                          </a:solidFill>
                          <a:latin typeface="Segoe UI"/>
                        </a:rPr>
                        <a:t>SELECT COUNT(*) FROM Products — 183 of 183 carry an ImageUrl</a:t>
                      </a:r>
                    </a:p>
                  </a:txBody>
                  <a:tcPr marL="73152" marR="73152">
                    <a:solidFill>
                      <a:srgbClr val="1B181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F5F2F3"/>
                          </a:solidFill>
                          <a:latin typeface="Segoe UI"/>
                        </a:rPr>
                        <a:t>Facets</a:t>
                      </a:r>
                    </a:p>
                  </a:txBody>
                  <a:tcPr marL="73152" marR="73152">
                    <a:solidFill>
                      <a:srgbClr val="201D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B9B3B5"/>
                          </a:solidFill>
                          <a:latin typeface="Segoe UI"/>
                        </a:rPr>
                        <a:t>29 brands · 103 product lines · 46 tags</a:t>
                      </a:r>
                    </a:p>
                  </a:txBody>
                  <a:tcPr marL="73152" marR="73152">
                    <a:solidFill>
                      <a:srgbClr val="201D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B9B3B5"/>
                          </a:solidFill>
                          <a:latin typeface="Segoe UI"/>
                        </a:rPr>
                        <a:t>Brands / ProductLines / Tags tables; 501 product-tag links</a:t>
                      </a:r>
                    </a:p>
                  </a:txBody>
                  <a:tcPr marL="73152" marR="73152">
                    <a:solidFill>
                      <a:srgbClr val="201D1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F5F2F3"/>
                          </a:solidFill>
                          <a:latin typeface="Segoe UI"/>
                        </a:rPr>
                        <a:t>Category tree</a:t>
                      </a:r>
                    </a:p>
                  </a:txBody>
                  <a:tcPr marL="73152" marR="73152">
                    <a:solidFill>
                      <a:srgbClr val="1B18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B9B3B5"/>
                          </a:solidFill>
                          <a:latin typeface="Segoe UI"/>
                        </a:rPr>
                        <a:t>43 categories, deepest branch 3 levels, 198 product links</a:t>
                      </a:r>
                    </a:p>
                  </a:txBody>
                  <a:tcPr marL="73152" marR="73152">
                    <a:solidFill>
                      <a:srgbClr val="1B18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B9B3B5"/>
                          </a:solidFill>
                          <a:latin typeface="Segoe UI"/>
                        </a:rPr>
                        <a:t>Categories + ProductCategories; one primary per product, enforced by index</a:t>
                      </a:r>
                    </a:p>
                  </a:txBody>
                  <a:tcPr marL="73152" marR="73152">
                    <a:solidFill>
                      <a:srgbClr val="1B181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F5F2F3"/>
                          </a:solidFill>
                          <a:latin typeface="Segoe UI"/>
                        </a:rPr>
                        <a:t>Stock signal</a:t>
                      </a:r>
                    </a:p>
                  </a:txBody>
                  <a:tcPr marL="73152" marR="73152">
                    <a:solidFill>
                      <a:srgbClr val="201D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B9B3B5"/>
                          </a:solidFill>
                          <a:latin typeface="Segoe UI"/>
                        </a:rPr>
                        <a:t>160 in stock · 10 low (1-10 units) · 23 out of stock</a:t>
                      </a:r>
                    </a:p>
                  </a:txBody>
                  <a:tcPr marL="73152" marR="73152">
                    <a:solidFill>
                      <a:srgbClr val="201D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B9B3B5"/>
                          </a:solidFill>
                          <a:latin typeface="Segoe UI"/>
                        </a:rPr>
                        <a:t>Products.StockQuantity, the same figures the badges read</a:t>
                      </a:r>
                    </a:p>
                  </a:txBody>
                  <a:tcPr marL="73152" marR="73152">
                    <a:solidFill>
                      <a:srgbClr val="201D1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F5F2F3"/>
                          </a:solidFill>
                          <a:latin typeface="Segoe UI"/>
                        </a:rPr>
                        <a:t>Orders on this machine</a:t>
                      </a:r>
                    </a:p>
                  </a:txBody>
                  <a:tcPr marL="73152" marR="73152">
                    <a:solidFill>
                      <a:srgbClr val="1B18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B9B3B5"/>
                          </a:solidFill>
                          <a:latin typeface="Segoe UI"/>
                        </a:rPr>
                        <a:t>20 orders, 21 lines: 4 Pending, 9 Confirmed, 7 Shipped</a:t>
                      </a:r>
                    </a:p>
                  </a:txBody>
                  <a:tcPr marL="73152" marR="73152">
                    <a:solidFill>
                      <a:srgbClr val="1B18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B9B3B5"/>
                          </a:solidFill>
                          <a:latin typeface="Segoe UI"/>
                        </a:rPr>
                        <a:t>Development seed plus the browser runs — demo data, not a sales claim</a:t>
                      </a:r>
                    </a:p>
                  </a:txBody>
                  <a:tcPr marL="73152" marR="73152">
                    <a:solidFill>
                      <a:srgbClr val="1B181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F5F2F3"/>
                          </a:solidFill>
                          <a:latin typeface="Segoe UI"/>
                        </a:rPr>
                        <a:t>Audit and ledger</a:t>
                      </a:r>
                    </a:p>
                  </a:txBody>
                  <a:tcPr marL="73152" marR="73152">
                    <a:solidFill>
                      <a:srgbClr val="201D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B9B3B5"/>
                          </a:solidFill>
                          <a:latin typeface="Segoe UI"/>
                        </a:rPr>
                        <a:t>38 stock movements · 1,018 audit entries · 20 notifications</a:t>
                      </a:r>
                    </a:p>
                  </a:txBody>
                  <a:tcPr marL="73152" marR="73152">
                    <a:solidFill>
                      <a:srgbClr val="201D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B9B3B5"/>
                          </a:solidFill>
                          <a:latin typeface="Segoe UI"/>
                        </a:rPr>
                        <a:t>InventoryMovements / AuditLogs / Notifications, append-only</a:t>
                      </a:r>
                    </a:p>
                  </a:txBody>
                  <a:tcPr marL="73152" marR="73152">
                    <a:solidFill>
                      <a:srgbClr val="201D1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F5F2F3"/>
                          </a:solidFill>
                          <a:latin typeface="Segoe UI"/>
                        </a:rPr>
                        <a:t>API surface</a:t>
                      </a:r>
                    </a:p>
                  </a:txBody>
                  <a:tcPr marL="73152" marR="73152">
                    <a:solidFill>
                      <a:srgbClr val="1B18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B9B3B5"/>
                          </a:solidFill>
                          <a:latin typeface="Segoe UI"/>
                        </a:rPr>
                        <a:t>55 endpoints — 24 GET, 17 POST, 10 PUT, 4 DELETE</a:t>
                      </a:r>
                    </a:p>
                  </a:txBody>
                  <a:tcPr marL="73152" marR="73152">
                    <a:solidFill>
                      <a:srgbClr val="1B18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B9B3B5"/>
                          </a:solidFill>
                          <a:latin typeface="Segoe UI"/>
                        </a:rPr>
                        <a:t>HTTP method attributes across the controllers</a:t>
                      </a:r>
                    </a:p>
                  </a:txBody>
                  <a:tcPr marL="73152" marR="73152">
                    <a:solidFill>
                      <a:srgbClr val="1B181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F5F2F3"/>
                          </a:solidFill>
                          <a:latin typeface="Segoe UI"/>
                        </a:rPr>
                        <a:t>Schema</a:t>
                      </a:r>
                    </a:p>
                  </a:txBody>
                  <a:tcPr marL="73152" marR="73152">
                    <a:solidFill>
                      <a:srgbClr val="201D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B9B3B5"/>
                          </a:solidFill>
                          <a:latin typeface="Segoe UI"/>
                        </a:rPr>
                        <a:t>13 EF Core migrations, 18 tables</a:t>
                      </a:r>
                    </a:p>
                  </a:txBody>
                  <a:tcPr marL="73152" marR="73152">
                    <a:solidFill>
                      <a:srgbClr val="201D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B9B3B5"/>
                          </a:solidFill>
                          <a:latin typeface="Segoe UI"/>
                        </a:rPr>
                        <a:t>Persistence/Migrations + sys.tables</a:t>
                      </a:r>
                    </a:p>
                  </a:txBody>
                  <a:tcPr marL="73152" marR="73152">
                    <a:solidFill>
                      <a:srgbClr val="201D1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F5F2F3"/>
                          </a:solidFill>
                          <a:latin typeface="Segoe UI"/>
                        </a:rPr>
                        <a:t>Code</a:t>
                      </a:r>
                    </a:p>
                  </a:txBody>
                  <a:tcPr marL="73152" marR="73152">
                    <a:solidFill>
                      <a:srgbClr val="1B18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B9B3B5"/>
                          </a:solidFill>
                          <a:latin typeface="Segoe UI"/>
                        </a:rPr>
                        <a:t>15,631 lines of C# · 15,554 lines of TypeScript and CSS</a:t>
                      </a:r>
                    </a:p>
                  </a:txBody>
                  <a:tcPr marL="73152" marR="73152">
                    <a:solidFill>
                      <a:srgbClr val="1B18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B9B3B5"/>
                          </a:solidFill>
                          <a:latin typeface="Segoe UI"/>
                        </a:rPr>
                        <a:t>wc -l over the sources, excluding bin, obj and node_modules</a:t>
                      </a:r>
                    </a:p>
                  </a:txBody>
                  <a:tcPr marL="73152" marR="73152">
                    <a:solidFill>
                      <a:srgbClr val="1B181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6199632"/>
            <a:ext cx="1082009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B9B3B5"/>
                </a:solidFill>
                <a:latin typeface="Segoe UI"/>
              </a:rPr>
              <a:t>Counted with sqlcmd against the LocalDB database the app runs on, and grep/wc over the sources, on 16 October. The manual's 28 annotated screens come from the same instance.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8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1074299" y="391364"/>
            <a:ext cx="497432" cy="553571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inecube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0135" y="457200"/>
            <a:ext cx="365760" cy="4218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411480"/>
            <a:ext cx="1010686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F59726"/>
                </a:solidFill>
                <a:latin typeface="Segoe UI"/>
              </a:rPr>
              <a:t>API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106863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F5F2F3"/>
                </a:solidFill>
                <a:latin typeface="Segoe UI"/>
              </a:rPr>
              <a:t>One API, one error contract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490472"/>
          <a:ext cx="10820095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10047"/>
                <a:gridCol w="5410048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59726"/>
                          </a:solidFill>
                          <a:latin typeface="Segoe UI"/>
                        </a:rPr>
                        <a:t>Area</a:t>
                      </a:r>
                    </a:p>
                  </a:txBody>
                  <a:tcPr marL="73152" marR="73152">
                    <a:solidFill>
                      <a:srgbClr val="2320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59726"/>
                          </a:solidFill>
                          <a:latin typeface="Segoe UI"/>
                        </a:rPr>
                        <a:t>Endpoints</a:t>
                      </a:r>
                    </a:p>
                  </a:txBody>
                  <a:tcPr marL="73152" marR="73152">
                    <a:solidFill>
                      <a:srgbClr val="23202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F5F2F3"/>
                          </a:solidFill>
                          <a:latin typeface="Segoe UI"/>
                        </a:rPr>
                        <a:t>Auth</a:t>
                      </a:r>
                    </a:p>
                  </a:txBody>
                  <a:tcPr marL="73152" marR="73152">
                    <a:solidFill>
                      <a:srgbClr val="1B18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B9B3B5"/>
                          </a:solidFill>
                          <a:latin typeface="Segoe UI"/>
                        </a:rPr>
                        <a:t>POST /api/auth/register · POST /api/auth/login · GET /api/auth/me</a:t>
                      </a:r>
                    </a:p>
                  </a:txBody>
                  <a:tcPr marL="73152" marR="73152">
                    <a:solidFill>
                      <a:srgbClr val="1B181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F5F2F3"/>
                          </a:solidFill>
                          <a:latin typeface="Segoe UI"/>
                        </a:rPr>
                        <a:t>Products</a:t>
                      </a:r>
                    </a:p>
                  </a:txBody>
                  <a:tcPr marL="73152" marR="73152">
                    <a:solidFill>
                      <a:srgbClr val="201D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B9B3B5"/>
                          </a:solidFill>
                          <a:latin typeface="Segoe UI"/>
                        </a:rPr>
                        <a:t>GET /api/products (q, category, tag, brand, line, inStock, price range, sort — all in the URL) · GET /{id} · low-stock · POST/PUT (Inventory Mgr) · stock-adjustments · movements · images</a:t>
                      </a:r>
                    </a:p>
                  </a:txBody>
                  <a:tcPr marL="73152" marR="73152">
                    <a:solidFill>
                      <a:srgbClr val="201D1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F5F2F3"/>
                          </a:solidFill>
                          <a:latin typeface="Segoe UI"/>
                        </a:rPr>
                        <a:t>Bulk + model</a:t>
                      </a:r>
                    </a:p>
                  </a:txBody>
                  <a:tcPr marL="73152" marR="73152">
                    <a:solidFill>
                      <a:srgbClr val="1B18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B9B3B5"/>
                          </a:solidFill>
                          <a:latin typeface="Segoe UI"/>
                        </a:rPr>
                        <a:t>POST /api/products/bulk — set-category, add/remove-tags, activate, deactivate, assign-brand (never stock) · categories CRUD/move · tags · brands + lines · PUT /{id}/categories</a:t>
                      </a:r>
                    </a:p>
                  </a:txBody>
                  <a:tcPr marL="73152" marR="73152">
                    <a:solidFill>
                      <a:srgbClr val="1B181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F5F2F3"/>
                          </a:solidFill>
                          <a:latin typeface="Segoe UI"/>
                        </a:rPr>
                        <a:t>Orders</a:t>
                      </a:r>
                    </a:p>
                  </a:txBody>
                  <a:tcPr marL="73152" marR="73152">
                    <a:solidFill>
                      <a:srgbClr val="201D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B9B3B5"/>
                          </a:solidFill>
                          <a:latin typeface="Segoe UI"/>
                        </a:rPr>
                        <a:t>POST /api/orders · GET /api/orders · GET /{id} · /cancel · /confirm · /reject · /ship · /invoice</a:t>
                      </a:r>
                    </a:p>
                  </a:txBody>
                  <a:tcPr marL="73152" marR="73152">
                    <a:solidFill>
                      <a:srgbClr val="201D1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F5F2F3"/>
                          </a:solidFill>
                          <a:latin typeface="Segoe UI"/>
                        </a:rPr>
                        <a:t>Account</a:t>
                      </a:r>
                    </a:p>
                  </a:txBody>
                  <a:tcPr marL="73152" marR="73152">
                    <a:solidFill>
                      <a:srgbClr val="1B18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B9B3B5"/>
                          </a:solidFill>
                          <a:latin typeface="Segoe UI"/>
                        </a:rPr>
                        <a:t>GET/PUT /api/me · password · dashboard · addresses · GET /api/notifications (+ unread-count) · read-all · /{id}/read · DELETE</a:t>
                      </a:r>
                    </a:p>
                  </a:txBody>
                  <a:tcPr marL="73152" marR="73152">
                    <a:solidFill>
                      <a:srgbClr val="1B181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F5F2F3"/>
                          </a:solidFill>
                          <a:latin typeface="Segoe UI"/>
                        </a:rPr>
                        <a:t>Reports + Admin</a:t>
                      </a:r>
                    </a:p>
                  </a:txBody>
                  <a:tcPr marL="73152" marR="73152">
                    <a:solidFill>
                      <a:srgbClr val="201D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B9B3B5"/>
                          </a:solidFill>
                          <a:latin typeface="Segoe UI"/>
                        </a:rPr>
                        <a:t>GET /api/reports/sales?from=&amp;to= · users, role, active · /api/admin/audit-logs · /api/admin/settings</a:t>
                      </a:r>
                    </a:p>
                  </a:txBody>
                  <a:tcPr marL="73152" marR="73152">
                    <a:solidFill>
                      <a:srgbClr val="201D1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4599432"/>
            <a:ext cx="1082009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 i="0">
                <a:solidFill>
                  <a:srgbClr val="F5F2F3"/>
                </a:solidFill>
                <a:latin typeface="Segoe UI"/>
              </a:rPr>
              <a:t>400 invalid input · 401 unauthenticated · 403 wrong role · 404 not found (including another customer's order)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F5F2F3"/>
                </a:solidFill>
                <a:latin typeface="Segoe UI"/>
              </a:rPr>
              <a:t>409 insufficient stock (body lists productId / requested / available) or an invalid state transition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B9B3B5"/>
                </a:solidFill>
                <a:latin typeface="Segoe UI"/>
              </a:rPr>
              <a:t>Never 500 for a business failure. Every response carries a correlation id that is also in the log.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8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1074299" y="391364"/>
            <a:ext cx="497432" cy="553571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inecube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0135" y="457200"/>
            <a:ext cx="365760" cy="4218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411480"/>
            <a:ext cx="1010686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F59726"/>
                </a:solidFill>
                <a:latin typeface="Segoe UI"/>
              </a:rPr>
              <a:t>THE CORE REQUIREMENT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106863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5F2F3"/>
                </a:solidFill>
                <a:latin typeface="Segoe UI"/>
              </a:rPr>
              <a:t>Concurrency: one atomic statement, ordered, all-or-nothing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90472"/>
            <a:ext cx="10820095" cy="4910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0" i="0">
                <a:solidFill>
                  <a:srgbClr val="F5F2F3"/>
                </a:solidFill>
                <a:latin typeface="Segoe UI"/>
              </a:rPr>
              <a:t>• Per line, in ascending ProductId order (deadlock avoidance):</a:t>
            </a:r>
          </a:p>
          <a:p>
            <a:pPr lvl="1">
              <a:spcAft>
                <a:spcPts val="600"/>
              </a:spcAft>
            </a:pPr>
            <a:r>
              <a:rPr sz="1400" b="0" i="0">
                <a:solidFill>
                  <a:srgbClr val="F59726"/>
                </a:solidFill>
                <a:latin typeface="Segoe UI"/>
              </a:rPr>
              <a:t>– UPDATE Products SET StockQuantity = StockQuantity - @qty WHERE Id = @id AND IsActive = 1 AND StockQuantity &gt;= @qty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F5F2F3"/>
                </a:solidFill>
                <a:latin typeface="Segoe UI"/>
              </a:rPr>
              <a:t>• 0 rows affected → roll back everything and return 409 with the short items. Never read-then-write.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F5F2F3"/>
                </a:solidFill>
                <a:latin typeface="Segoe UI"/>
              </a:rPr>
              <a:t>• Status changes use the same trick: WHERE Id = @id AND Status = @expected → exactly one winner in a race.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F5F2F3"/>
                </a:solidFill>
                <a:latin typeface="Segoe UI"/>
              </a:rPr>
              <a:t>• Idempotency-Key on POST /orders: a repeat returns the original order and never reserves stock twice.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F5F2F3"/>
                </a:solidFill>
                <a:latin typeface="Segoe UI"/>
              </a:rPr>
              <a:t>• 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F59726"/>
                </a:solidFill>
                <a:latin typeface="Segoe UI"/>
              </a:rPr>
              <a:t>• Rejected alternatives:</a:t>
            </a:r>
          </a:p>
          <a:p>
            <a:pPr lvl="1">
              <a:spcAft>
                <a:spcPts val="600"/>
              </a:spcAft>
            </a:pPr>
            <a:r>
              <a:rPr sz="1400" b="0" i="0">
                <a:solidFill>
                  <a:srgbClr val="B9B3B5"/>
                </a:solidFill>
                <a:latin typeface="Segoe UI"/>
              </a:rPr>
              <a:t>– optimistic RowVersion — retry storms under exactly the load we care about</a:t>
            </a:r>
          </a:p>
          <a:p>
            <a:pPr lvl="1">
              <a:spcAft>
                <a:spcPts val="600"/>
              </a:spcAft>
            </a:pPr>
            <a:r>
              <a:rPr sz="1400" b="0" i="0">
                <a:solidFill>
                  <a:srgbClr val="B9B3B5"/>
                </a:solidFill>
                <a:latin typeface="Segoe UI"/>
              </a:rPr>
              <a:t>– pessimistic locks — held across the whole order, invites deadlocks and timeouts</a:t>
            </a:r>
          </a:p>
          <a:p>
            <a:pPr lvl="1">
              <a:spcAft>
                <a:spcPts val="600"/>
              </a:spcAft>
            </a:pPr>
            <a:r>
              <a:rPr sz="1400" b="0" i="0">
                <a:solidFill>
                  <a:srgbClr val="B9B3B5"/>
                </a:solidFill>
                <a:latin typeface="Segoe UI"/>
              </a:rPr>
              <a:t>– SERIALIZABLE — deadlocks and 1205s, and it still needs the retry loop</a:t>
            </a:r>
          </a:p>
          <a:p>
            <a:pPr lvl="1">
              <a:spcAft>
                <a:spcPts val="600"/>
              </a:spcAft>
            </a:pPr>
            <a:r>
              <a:rPr sz="1400" b="0" i="0">
                <a:solidFill>
                  <a:srgbClr val="B9B3B5"/>
                </a:solidFill>
                <a:latin typeface="Segoe UI"/>
              </a:rPr>
              <a:t>– in-process lock — worthless the moment there is a second instance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8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1074299" y="391364"/>
            <a:ext cx="497432" cy="553571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inecube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0135" y="457200"/>
            <a:ext cx="365760" cy="4218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411480"/>
            <a:ext cx="1010686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F59726"/>
                </a:solidFill>
                <a:latin typeface="Segoe UI"/>
              </a:rPr>
              <a:t>FRONTEND &amp; 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106863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5F2F3"/>
                </a:solidFill>
                <a:latin typeface="Segoe UI"/>
              </a:rPr>
              <a:t>Frontend: glass + neumorphism, but readable first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90472"/>
            <a:ext cx="10820095" cy="4910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0" i="0">
                <a:solidFill>
                  <a:srgbClr val="F5F2F3"/>
                </a:solidFill>
                <a:latin typeface="Segoe UI"/>
              </a:rPr>
              <a:t>• React 18 + TypeScript + Vite. TanStack Query for server state, React Router for routing, no UI framework.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F5F2F3"/>
                </a:solidFill>
                <a:latin typeface="Segoe UI"/>
              </a:rPr>
              <a:t>• Design tokens in one file (colour, space, radius, type, motion) — components hard-code nothing.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F5F2F3"/>
                </a:solidFill>
                <a:latin typeface="Segoe UI"/>
              </a:rPr>
              <a:t>• The root route is a public WebGL showcase; the catalogue lives at /products behind the login, because live stock is commercial.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F5F2F3"/>
                </a:solidFill>
                <a:latin typeface="Segoe UI"/>
              </a:rPr>
              <a:t>• Live stock badges: Out of stock / Low stock · N left / In stock · N, each with a glyph and a word, never colour alone.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F5F2F3"/>
                </a:solidFill>
                <a:latin typeface="Segoe UI"/>
              </a:rPr>
              <a:t>• The stepper cannot exceed live stock, and a 409 keeps the cart and names the short items.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F5F2F3"/>
                </a:solidFill>
                <a:latin typeface="Segoe UI"/>
              </a:rPr>
              <a:t>• Every catalogue filter is written to the URL — a view survives reload, bookmark, Back and Forward.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F5F2F3"/>
                </a:solidFill>
                <a:latin typeface="Segoe UI"/>
              </a:rPr>
              <a:t>• Role-aware navigation: you only ever see the links your role can use; the server enforces it anyway. The tab you are on carries the same selected amber as the open account menu and the switched-on theme.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F5F2F3"/>
                </a:solidFill>
                <a:latin typeface="Segoe UI"/>
              </a:rPr>
              <a:t>• Accessibility: skip link, focus rings, aria-current, arrow-key menus, focus-trapped dialogs, aria-live regions, reduced-motion fallbacks.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57D3A0"/>
                </a:solidFill>
                <a:latin typeface="Segoe UI"/>
              </a:rPr>
              <a:t>• Responsive at 390 / 768 / 1024 / 1440 px in both themes, measured on composited pixels — not assumed.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8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1074299" y="391364"/>
            <a:ext cx="497432" cy="553571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inecube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0135" y="457200"/>
            <a:ext cx="365760" cy="4218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411480"/>
            <a:ext cx="1010686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F59726"/>
                </a:solidFill>
                <a:latin typeface="Segoe UI"/>
              </a:rPr>
              <a:t>THE CUSTOMER'S SCREENS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106863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5F2F3"/>
                </a:solidFill>
                <a:latin typeface="Segoe UI"/>
              </a:rPr>
              <a:t>Browsing and buying, photographed from the running app</a:t>
            </a:r>
          </a:p>
        </p:txBody>
      </p:sp>
      <p:pic>
        <p:nvPicPr>
          <p:cNvPr id="6" name="Picture 5" descr="05-catalog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90472"/>
            <a:ext cx="5254599" cy="3284124"/>
          </a:xfrm>
          <a:prstGeom prst="rect">
            <a:avLst/>
          </a:prstGeom>
          <a:ln w="15875">
            <a:solidFill>
              <a:srgbClr val="453F4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85800" y="4847748"/>
            <a:ext cx="525459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0">
                <a:solidFill>
                  <a:srgbClr val="B9B3B5"/>
                </a:solidFill>
                <a:latin typeface="Segoe UI"/>
              </a:rPr>
              <a:t>The catalogue: the sidebar tree, the facet chips and the URL that carries them</a:t>
            </a:r>
          </a:p>
        </p:txBody>
      </p:sp>
      <p:pic>
        <p:nvPicPr>
          <p:cNvPr id="8" name="Picture 7" descr="06-c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1295" y="1490472"/>
            <a:ext cx="5254599" cy="3284124"/>
          </a:xfrm>
          <a:prstGeom prst="rect">
            <a:avLst/>
          </a:prstGeom>
          <a:ln w="15875">
            <a:solidFill>
              <a:srgbClr val="453F41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251295" y="4847748"/>
            <a:ext cx="525459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0">
                <a:solidFill>
                  <a:srgbClr val="B9B3B5"/>
                </a:solidFill>
                <a:latin typeface="Segoe UI"/>
              </a:rPr>
              <a:t>The cart and checkout: the stepper cannot pass live stock, and a 409 names the short items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199632"/>
            <a:ext cx="1082009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B9B3B5"/>
                </a:solidFill>
                <a:latin typeface="Segoe UI"/>
              </a:rPr>
              <a:t>USER_MANUAL 2.1-2.2 · catalogue-roles.test.tsx, catalogue-sidebar.test.tsx, sidebar-layout.spec.ts, laptop-catalogue.spec.ts, checkout.test.tsx, order-flow.spec.ts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8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1074299" y="391364"/>
            <a:ext cx="497432" cy="553571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inecube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0135" y="457200"/>
            <a:ext cx="365760" cy="4218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411480"/>
            <a:ext cx="1010686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F59726"/>
                </a:solidFill>
                <a:latin typeface="Segoe UI"/>
              </a:rPr>
              <a:t>THE CUSTOMER'S OWN ACCOUNT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106863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F5F2F3"/>
                </a:solidFill>
                <a:latin typeface="Segoe UI"/>
              </a:rPr>
              <a:t>What the customer sees after the order</a:t>
            </a:r>
          </a:p>
        </p:txBody>
      </p:sp>
      <p:pic>
        <p:nvPicPr>
          <p:cNvPr id="6" name="Picture 5" descr="10-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90472"/>
            <a:ext cx="5254599" cy="3284124"/>
          </a:xfrm>
          <a:prstGeom prst="rect">
            <a:avLst/>
          </a:prstGeom>
          <a:ln w="15875">
            <a:solidFill>
              <a:srgbClr val="453F4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85800" y="4847748"/>
            <a:ext cx="525459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0">
                <a:solidFill>
                  <a:srgbClr val="B9B3B5"/>
                </a:solidFill>
                <a:latin typeface="Segoe UI"/>
              </a:rPr>
              <a:t>Your dashboard: the tiles, the recent orders and the spend the account is entitled to</a:t>
            </a:r>
          </a:p>
        </p:txBody>
      </p:sp>
      <p:pic>
        <p:nvPicPr>
          <p:cNvPr id="8" name="Picture 7" descr="12-notification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1295" y="1490472"/>
            <a:ext cx="5254599" cy="3284124"/>
          </a:xfrm>
          <a:prstGeom prst="rect">
            <a:avLst/>
          </a:prstGeom>
          <a:ln w="15875">
            <a:solidFill>
              <a:srgbClr val="453F41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251295" y="4847748"/>
            <a:ext cx="525459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0">
                <a:solidFill>
                  <a:srgbClr val="B9B3B5"/>
                </a:solidFill>
                <a:latin typeface="Segoe UI"/>
              </a:rPr>
              <a:t>Notifications: what changed, when, and a link to the order it is about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199632"/>
            <a:ext cx="1082009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B9B3B5"/>
                </a:solidFill>
                <a:latin typeface="Segoe UI"/>
              </a:rPr>
              <a:t>USER_MANUAL 2.4 and 6.3 · account.test.tsx, modern-customer.spec.ts, sticky-notifications.test.tsx, sticky-notifications.spec.ts, ProfileAndDashboardTests.cs, NotificationTests.cs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8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1074299" y="391364"/>
            <a:ext cx="497432" cy="553571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inecube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0135" y="457200"/>
            <a:ext cx="365760" cy="4218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411480"/>
            <a:ext cx="1010686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F59726"/>
                </a:solidFill>
                <a:latin typeface="Segoe UI"/>
              </a:rPr>
              <a:t>THE STAFF SCREENS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106863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5F2F3"/>
                </a:solidFill>
                <a:latin typeface="Segoe UI"/>
              </a:rPr>
              <a:t>The order console, and the category manager beside it</a:t>
            </a:r>
          </a:p>
        </p:txBody>
      </p:sp>
      <p:pic>
        <p:nvPicPr>
          <p:cNvPr id="6" name="Picture 5" descr="13-staff-conso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90472"/>
            <a:ext cx="5254599" cy="3284124"/>
          </a:xfrm>
          <a:prstGeom prst="rect">
            <a:avLst/>
          </a:prstGeom>
          <a:ln w="15875">
            <a:solidFill>
              <a:srgbClr val="453F4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85800" y="4847748"/>
            <a:ext cx="525459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0">
                <a:solidFill>
                  <a:srgbClr val="B9B3B5"/>
                </a:solidFill>
                <a:latin typeface="Segoe UI"/>
              </a:rPr>
              <a:t>The staff order console: the queues a Sales Manager works, and nothing else</a:t>
            </a:r>
          </a:p>
        </p:txBody>
      </p:sp>
      <p:pic>
        <p:nvPicPr>
          <p:cNvPr id="8" name="Picture 7" descr="13b-category-stock-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1295" y="1490472"/>
            <a:ext cx="5254599" cy="3284124"/>
          </a:xfrm>
          <a:prstGeom prst="rect">
            <a:avLst/>
          </a:prstGeom>
          <a:ln w="15875">
            <a:solidFill>
              <a:srgbClr val="453F41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251295" y="4847748"/>
            <a:ext cx="525459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0">
                <a:solidFill>
                  <a:srgbClr val="B9B3B5"/>
                </a:solidFill>
                <a:latin typeface="Segoe UI"/>
              </a:rPr>
              <a:t>Categories &amp; stock, in the dark theme: the tree, its branch totals, and no stock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199632"/>
            <a:ext cx="1082009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B9B3B5"/>
                </a:solidFill>
                <a:latin typeface="Segoe UI"/>
              </a:rPr>
              <a:t>USER_MANUAL 3.1 and 3.3 · staff-order-bulk.test.tsx + staff-order-bulk.spec.ts for the queues, categories.test.tsx + staff-organization.spec.ts + CategoryTests.cs for the tree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8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1074299" y="391364"/>
            <a:ext cx="497432" cy="553571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inecube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0135" y="457200"/>
            <a:ext cx="365760" cy="4218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411480"/>
            <a:ext cx="1010686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F59726"/>
                </a:solidFill>
                <a:latin typeface="Segoe UI"/>
              </a:rPr>
              <a:t>THE INVENTORY SCREENS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106863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F5F2F3"/>
                </a:solidFill>
                <a:latin typeface="Segoe UI"/>
              </a:rPr>
              <a:t>Bulk edits that leave stock alone</a:t>
            </a:r>
          </a:p>
        </p:txBody>
      </p:sp>
      <p:pic>
        <p:nvPicPr>
          <p:cNvPr id="6" name="Picture 5" descr="16-bulk-ed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90472"/>
            <a:ext cx="5254599" cy="3284124"/>
          </a:xfrm>
          <a:prstGeom prst="rect">
            <a:avLst/>
          </a:prstGeom>
          <a:ln w="15875">
            <a:solidFill>
              <a:srgbClr val="453F4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85800" y="4847748"/>
            <a:ext cx="525459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0">
                <a:solidFill>
                  <a:srgbClr val="B9B3B5"/>
                </a:solidFill>
                <a:latin typeface="Segoe UI"/>
              </a:rPr>
              <a:t>Bulk editing products: category, tags, brand and active state — stock is not in the list</a:t>
            </a:r>
          </a:p>
        </p:txBody>
      </p:sp>
      <p:pic>
        <p:nvPicPr>
          <p:cNvPr id="8" name="Picture 7" descr="18b-movement-histo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1295" y="1490472"/>
            <a:ext cx="5254599" cy="3284124"/>
          </a:xfrm>
          <a:prstGeom prst="rect">
            <a:avLst/>
          </a:prstGeom>
          <a:ln w="15875">
            <a:solidFill>
              <a:srgbClr val="453F41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251295" y="4847748"/>
            <a:ext cx="525459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0">
                <a:solidFill>
                  <a:srgbClr val="B9B3B5"/>
                </a:solidFill>
                <a:latin typeface="Segoe UI"/>
              </a:rPr>
              <a:t>The movement ledger for one product: every change with its user, reason and balance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199632"/>
            <a:ext cx="1082009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B9B3B5"/>
                </a:solidFill>
                <a:latin typeface="Segoe UI"/>
              </a:rPr>
              <a:t>USER_MANUAL 4.2-4.3 · inventory-bulk.test.tsx + BulkProductUpdateTests.cs hold the bulk path, StockAdjustmentTests.cs the ledger, and actionable-surfaces.spec.ts checks both in a browser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8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1074299" y="391364"/>
            <a:ext cx="497432" cy="553571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inecube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0135" y="457200"/>
            <a:ext cx="365760" cy="4218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411480"/>
            <a:ext cx="1010686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F59726"/>
                </a:solidFill>
                <a:latin typeface="Segoe UI"/>
              </a:rPr>
              <a:t>CATEGORIES · BRANDS · TAGS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106863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F5F2F3"/>
                </a:solidFill>
                <a:latin typeface="Segoe UI"/>
              </a:rPr>
              <a:t>A catalogue with a model behind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90472"/>
            <a:ext cx="10820095" cy="4910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0" i="0">
                <a:solidFill>
                  <a:srgbClr val="F5F2F3"/>
                </a:solidFill>
                <a:latin typeface="Segoe UI"/>
              </a:rPr>
              <a:t>• Category hierarchy: unique slug, sibling-name uniqueness, materialized paths, depth 1-4, ordering, activity.</a:t>
            </a:r>
          </a:p>
          <a:p>
            <a:pPr lvl="1">
              <a:spcAft>
                <a:spcPts val="600"/>
              </a:spcAft>
            </a:pPr>
            <a:r>
              <a:rPr sz="1400" b="0" i="0">
                <a:solidFill>
                  <a:srgbClr val="F59726"/>
                </a:solidFill>
                <a:latin typeface="Segoe UI"/>
              </a:rPr>
              <a:t>– One primary category per product, enforced by a filtered SQL Server index — not by convention.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F5F2F3"/>
                </a:solidFill>
                <a:latin typeface="Segoe UI"/>
              </a:rPr>
              <a:t>• Brand and series are entities derived from attributed data; nothing is invented to fill a facet.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F5F2F3"/>
                </a:solidFill>
                <a:latin typeface="Segoe UI"/>
              </a:rPr>
              <a:t>• Category counts are distinct products with the other active filters applied, so a cross-listed product is counted once.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F5F2F3"/>
                </a:solidFill>
                <a:latin typeface="Segoe UI"/>
              </a:rPr>
              <a:t>• Delete needs a reassignment target; children are reparented in the same transaction; a cycle or an excess depth is refused with the reason.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F5F2F3"/>
                </a:solidFill>
                <a:latin typeface="Segoe UI"/>
              </a:rPr>
              <a:t>• Order lines snapshot product name and primary category at placement, so a later rename never rewrites an invoice.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F5F2F3"/>
                </a:solidFill>
                <a:latin typeface="Segoe UI"/>
              </a:rPr>
              <a:t>• 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57D3A0"/>
                </a:solidFill>
                <a:latin typeface="Segoe UI"/>
              </a:rPr>
              <a:t>• None of it can move a stock figure — five category tests and one bulk test assert exactly that.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B9B3B5"/>
                </a:solidFill>
                <a:latin typeface="Segoe UI"/>
              </a:rPr>
              <a:t>• Seed data: 183 products priced in BDT, 46 tags and 198 category links in the database today, loaded insert-only so a rerun changes nothing (counted 16 October; SEED_REPORT.md records the pipeline runs).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8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1074299" y="391364"/>
            <a:ext cx="497432" cy="553571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inecube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0135" y="457200"/>
            <a:ext cx="365760" cy="4218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411480"/>
            <a:ext cx="1010686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F59726"/>
                </a:solidFill>
                <a:latin typeface="Segoe UI"/>
              </a:rPr>
              <a:t>THE WORKING SCREENS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106863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F5F2F3"/>
                </a:solidFill>
                <a:latin typeface="Segoe UI"/>
              </a:rPr>
              <a:t>What each role can actually do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490472"/>
          <a:ext cx="10820095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6698"/>
                <a:gridCol w="3606698"/>
                <a:gridCol w="3606699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59726"/>
                          </a:solidFill>
                          <a:latin typeface="Segoe UI"/>
                        </a:rPr>
                        <a:t>Role</a:t>
                      </a:r>
                    </a:p>
                  </a:txBody>
                  <a:tcPr marL="73152" marR="73152">
                    <a:solidFill>
                      <a:srgbClr val="2320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59726"/>
                          </a:solidFill>
                          <a:latin typeface="Segoe UI"/>
                        </a:rPr>
                        <a:t>Screens</a:t>
                      </a:r>
                    </a:p>
                  </a:txBody>
                  <a:tcPr marL="73152" marR="73152">
                    <a:solidFill>
                      <a:srgbClr val="2320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59726"/>
                          </a:solidFill>
                          <a:latin typeface="Segoe UI"/>
                        </a:rPr>
                        <a:t>The rule that matters</a:t>
                      </a:r>
                    </a:p>
                  </a:txBody>
                  <a:tcPr marL="73152" marR="73152">
                    <a:solidFill>
                      <a:srgbClr val="23202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F5F2F3"/>
                          </a:solidFill>
                          <a:latin typeface="Segoe UI"/>
                        </a:rPr>
                        <a:t>Customer</a:t>
                      </a:r>
                    </a:p>
                  </a:txBody>
                  <a:tcPr marL="73152" marR="73152">
                    <a:solidFill>
                      <a:srgbClr val="1B18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B9B3B5"/>
                          </a:solidFill>
                          <a:latin typeface="Segoe UI"/>
                        </a:rPr>
                        <a:t>/products · cart · /orders · invoice · /account · /account/profile · /notifications</a:t>
                      </a:r>
                    </a:p>
                  </a:txBody>
                  <a:tcPr marL="73152" marR="73152">
                    <a:solidFill>
                      <a:srgbClr val="1B18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B9B3B5"/>
                          </a:solidFill>
                          <a:latin typeface="Segoe UI"/>
                        </a:rPr>
                        <a:t>Stock is reserved at placement, never at add-to-cart. Someone else's record answers 404, not 403.</a:t>
                      </a:r>
                    </a:p>
                  </a:txBody>
                  <a:tcPr marL="73152" marR="73152">
                    <a:solidFill>
                      <a:srgbClr val="1B181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F5F2F3"/>
                          </a:solidFill>
                          <a:latin typeface="Segoe UI"/>
                        </a:rPr>
                        <a:t>Sales Manager</a:t>
                      </a:r>
                    </a:p>
                  </a:txBody>
                  <a:tcPr marL="73152" marR="73152">
                    <a:solidFill>
                      <a:srgbClr val="201D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B9B3B5"/>
                          </a:solidFill>
                          <a:latin typeface="Segoe UI"/>
                        </a:rPr>
                        <a:t>/staff queues (to confirm, to ship, invoices &amp; history) · category editor · /staff/sales · bulk order review</a:t>
                      </a:r>
                    </a:p>
                  </a:txBody>
                  <a:tcPr marL="73152" marR="73152">
                    <a:solidFill>
                      <a:srgbClr val="201D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B9B3B5"/>
                          </a:solidFill>
                          <a:latin typeface="Segoe UI"/>
                        </a:rPr>
                        <a:t>Staff move orders; they cannot touch products or stock. A bulk review sends nothing when dismissed.</a:t>
                      </a:r>
                    </a:p>
                  </a:txBody>
                  <a:tcPr marL="73152" marR="73152">
                    <a:solidFill>
                      <a:srgbClr val="201D1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F5F2F3"/>
                          </a:solidFill>
                          <a:latin typeface="Segoe UI"/>
                        </a:rPr>
                        <a:t>Inventory Manager</a:t>
                      </a:r>
                    </a:p>
                  </a:txBody>
                  <a:tcPr marL="73152" marR="73152">
                    <a:solidFill>
                      <a:srgbClr val="1B18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B9B3B5"/>
                          </a:solidFill>
                          <a:latin typeface="Segoe UI"/>
                        </a:rPr>
                        <a:t>/inventory · new product · edit · images · adjust stock · movement ledger · bulk product edit</a:t>
                      </a:r>
                    </a:p>
                  </a:txBody>
                  <a:tcPr marL="73152" marR="73152">
                    <a:solidFill>
                      <a:srgbClr val="1B18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B9B3B5"/>
                          </a:solidFill>
                          <a:latin typeface="Segoe UI"/>
                        </a:rPr>
                        <a:t>Bulk edits cover category, tags, brand and active state — stock keeps its atomic single-product path.</a:t>
                      </a:r>
                    </a:p>
                  </a:txBody>
                  <a:tcPr marL="73152" marR="73152">
                    <a:solidFill>
                      <a:srgbClr val="1B181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F5F2F3"/>
                          </a:solidFill>
                          <a:latin typeface="Segoe UI"/>
                        </a:rPr>
                        <a:t>Administrator</a:t>
                      </a:r>
                    </a:p>
                  </a:txBody>
                  <a:tcPr marL="73152" marR="73152">
                    <a:solidFill>
                      <a:srgbClr val="201D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B9B3B5"/>
                          </a:solidFill>
                          <a:latin typeface="Segoe UI"/>
                        </a:rPr>
                        <a:t>/admin users · audit log · settings · read-only orders and invoices</a:t>
                      </a:r>
                    </a:p>
                  </a:txBody>
                  <a:tcPr marL="73152" marR="73152">
                    <a:solidFill>
                      <a:srgbClr val="201D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B9B3B5"/>
                          </a:solidFill>
                          <a:latin typeface="Segoe UI"/>
                        </a:rPr>
                        <a:t>Separation of duties: nobody can both sell and silently restock. The last admin cannot be removed.</a:t>
                      </a:r>
                    </a:p>
                  </a:txBody>
                  <a:tcPr marL="73152" marR="73152">
                    <a:solidFill>
                      <a:srgbClr val="201D1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6199632"/>
            <a:ext cx="1082009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B9B3B5"/>
                </a:solidFill>
                <a:latin typeface="Segoe UI"/>
              </a:rPr>
              <a:t>Notifications are written where the event happens: placement, status change, a low-stock crossing — once per product, never for a rejection that did not take place.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8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1074299" y="391364"/>
            <a:ext cx="497432" cy="553571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inecube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0135" y="457200"/>
            <a:ext cx="365760" cy="4218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411480"/>
            <a:ext cx="1010686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F59726"/>
                </a:solidFill>
                <a:latin typeface="Segoe UI"/>
              </a:rPr>
              <a:t>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106863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F5F2F3"/>
                </a:solidFill>
                <a:latin typeface="Segoe UI"/>
              </a:rPr>
              <a:t>Implementation decisions worth calling 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90472"/>
            <a:ext cx="10820095" cy="4910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0" i="0">
                <a:solidFill>
                  <a:srgbClr val="F5F2F3"/>
                </a:solidFill>
                <a:latin typeface="Segoe UI"/>
              </a:rPr>
              <a:t>• Reserve at placement, not at confirmation — the only moment a promise can be kept.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F5F2F3"/>
                </a:solidFill>
                <a:latin typeface="Segoe UI"/>
              </a:rPr>
              <a:t>• Every stock change appends to the ledger in the same transaction, with the user and reason.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F5F2F3"/>
                </a:solidFill>
                <a:latin typeface="Segoe UI"/>
              </a:rPr>
              <a:t>• Prices are snapshotted onto the order line; the client never sends a price.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F5F2F3"/>
                </a:solidFill>
                <a:latin typeface="Segoe UI"/>
              </a:rPr>
              <a:t>• Roles are re-read from the database per request, so a role change or deactivation is immediate.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F5F2F3"/>
                </a:solidFill>
                <a:latin typeface="Segoe UI"/>
              </a:rPr>
              <a:t>• Timestamps are UTC with an explicit Z; the SPA renders them in the viewer's time zone.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F5F2F3"/>
                </a:solidFill>
                <a:latin typeface="Segoe UI"/>
              </a:rPr>
              <a:t>• Report ranges are local calendar dates converted to inclusive UTC instants at the edges.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F5F2F3"/>
                </a:solidFill>
                <a:latin typeface="Segoe UI"/>
              </a:rPr>
              <a:t>• Only a Customer sees ordering controls — the UI never offers an action the API would refuse.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B9B3B5"/>
                </a:solidFill>
                <a:latin typeface="Segoe UI"/>
              </a:rPr>
              <a:t>• Anonymous browsing is disabled: live stock is commercial information (recorded as an assumption).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8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1074299" y="391364"/>
            <a:ext cx="497432" cy="553571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inecube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0135" y="457200"/>
            <a:ext cx="365760" cy="4218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411480"/>
            <a:ext cx="1010686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F59726"/>
                </a:solidFill>
                <a:latin typeface="Segoe UI"/>
              </a:rPr>
              <a:t>TEST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106863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F5F2F3"/>
                </a:solidFill>
                <a:latin typeface="Segoe UI"/>
              </a:rPr>
              <a:t>Verified results on this machine (16 October)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490472"/>
          <a:ext cx="10820095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6698"/>
                <a:gridCol w="3606698"/>
                <a:gridCol w="3606699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59726"/>
                          </a:solidFill>
                          <a:latin typeface="Segoe UI"/>
                        </a:rPr>
                        <a:t>Suite</a:t>
                      </a:r>
                    </a:p>
                  </a:txBody>
                  <a:tcPr marL="73152" marR="73152">
                    <a:solidFill>
                      <a:srgbClr val="2320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59726"/>
                          </a:solidFill>
                          <a:latin typeface="Segoe UI"/>
                        </a:rPr>
                        <a:t>Command</a:t>
                      </a:r>
                    </a:p>
                  </a:txBody>
                  <a:tcPr marL="73152" marR="73152">
                    <a:solidFill>
                      <a:srgbClr val="2320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59726"/>
                          </a:solidFill>
                          <a:latin typeface="Segoe UI"/>
                        </a:rPr>
                        <a:t>Result</a:t>
                      </a:r>
                    </a:p>
                  </a:txBody>
                  <a:tcPr marL="73152" marR="73152">
                    <a:solidFill>
                      <a:srgbClr val="23202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F5F2F3"/>
                          </a:solidFill>
                          <a:latin typeface="Segoe UI"/>
                        </a:rPr>
                        <a:t>Backend — 108 tests, real SQL Server</a:t>
                      </a:r>
                    </a:p>
                  </a:txBody>
                  <a:tcPr marL="73152" marR="73152">
                    <a:solidFill>
                      <a:srgbClr val="1B18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B9B3B5"/>
                          </a:solidFill>
                          <a:latin typeface="Segoe UI"/>
                        </a:rPr>
                        <a:t>dotnet test src/NineCube.Tests</a:t>
                      </a:r>
                    </a:p>
                  </a:txBody>
                  <a:tcPr marL="73152" marR="73152">
                    <a:solidFill>
                      <a:srgbClr val="1B18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B9B3B5"/>
                          </a:solidFill>
                          <a:latin typeface="Segoe UI"/>
                        </a:rPr>
                        <a:t>108 passed, 0 failed, 0 skipped (net10.0)</a:t>
                      </a:r>
                    </a:p>
                  </a:txBody>
                  <a:tcPr marL="73152" marR="73152">
                    <a:solidFill>
                      <a:srgbClr val="1B181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F5F2F3"/>
                          </a:solidFill>
                          <a:latin typeface="Segoe UI"/>
                        </a:rPr>
                        <a:t>Frontend unit/component — 159</a:t>
                      </a:r>
                    </a:p>
                  </a:txBody>
                  <a:tcPr marL="73152" marR="73152">
                    <a:solidFill>
                      <a:srgbClr val="201D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B9B3B5"/>
                          </a:solidFill>
                          <a:latin typeface="Segoe UI"/>
                        </a:rPr>
                        <a:t>cd web &amp;&amp; npm run test:run</a:t>
                      </a:r>
                    </a:p>
                  </a:txBody>
                  <a:tcPr marL="73152" marR="73152">
                    <a:solidFill>
                      <a:srgbClr val="201D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B9B3B5"/>
                          </a:solidFill>
                          <a:latin typeface="Segoe UI"/>
                        </a:rPr>
                        <a:t>159 passed in 23 files</a:t>
                      </a:r>
                    </a:p>
                  </a:txBody>
                  <a:tcPr marL="73152" marR="73152">
                    <a:solidFill>
                      <a:srgbClr val="201D1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F5F2F3"/>
                          </a:solidFill>
                          <a:latin typeface="Segoe UI"/>
                        </a:rPr>
                        <a:t>Types + production build</a:t>
                      </a:r>
                    </a:p>
                  </a:txBody>
                  <a:tcPr marL="73152" marR="73152">
                    <a:solidFill>
                      <a:srgbClr val="1B18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B9B3B5"/>
                          </a:solidFill>
                          <a:latin typeface="Segoe UI"/>
                        </a:rPr>
                        <a:t>npm run typecheck &amp;&amp; npm run build</a:t>
                      </a:r>
                    </a:p>
                  </a:txBody>
                  <a:tcPr marL="73152" marR="73152">
                    <a:solidFill>
                      <a:srgbClr val="1B18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B9B3B5"/>
                          </a:solidFill>
                          <a:latin typeface="Segoe UI"/>
                        </a:rPr>
                        <a:t>tsc exit 0; per-route code splitting</a:t>
                      </a:r>
                    </a:p>
                  </a:txBody>
                  <a:tcPr marL="73152" marR="73152">
                    <a:solidFill>
                      <a:srgbClr val="1B181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F5F2F3"/>
                          </a:solidFill>
                          <a:latin typeface="Segoe UI"/>
                        </a:rPr>
                        <a:t>Browser — Playwright, 23 spec files</a:t>
                      </a:r>
                    </a:p>
                  </a:txBody>
                  <a:tcPr marL="73152" marR="73152">
                    <a:solidFill>
                      <a:srgbClr val="201D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B9B3B5"/>
                          </a:solidFill>
                          <a:latin typeface="Segoe UI"/>
                        </a:rPr>
                        <a:t>npm run e2e (Chromium, live API + live data)</a:t>
                      </a:r>
                    </a:p>
                  </a:txBody>
                  <a:tcPr marL="73152" marR="73152">
                    <a:solidFill>
                      <a:srgbClr val="201D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B9B3B5"/>
                          </a:solidFill>
                          <a:latin typeface="Segoe UI"/>
                        </a:rPr>
                        <a:t>107 tests: order flow, bulk console, categories, themes, navbar states, surfaces, UI audit</a:t>
                      </a:r>
                    </a:p>
                  </a:txBody>
                  <a:tcPr marL="73152" marR="73152">
                    <a:solidFill>
                      <a:srgbClr val="201D1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F5F2F3"/>
                          </a:solidFill>
                          <a:latin typeface="Segoe UI"/>
                        </a:rPr>
                        <a:t>Annotated manual</a:t>
                      </a:r>
                    </a:p>
                  </a:txBody>
                  <a:tcPr marL="73152" marR="73152">
                    <a:solidFill>
                      <a:srgbClr val="1B18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B9B3B5"/>
                          </a:solidFill>
                          <a:latin typeface="Segoe UI"/>
                        </a:rPr>
                        <a:t>node scripts/capture-manual.mjs</a:t>
                      </a:r>
                    </a:p>
                  </a:txBody>
                  <a:tcPr marL="73152" marR="73152">
                    <a:solidFill>
                      <a:srgbClr val="1B18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B9B3B5"/>
                          </a:solidFill>
                          <a:latin typeface="Segoe UI"/>
                        </a:rPr>
                        <a:t>28 screens from the live app, every callout located</a:t>
                      </a:r>
                    </a:p>
                  </a:txBody>
                  <a:tcPr marL="73152" marR="73152">
                    <a:solidFill>
                      <a:srgbClr val="1B181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F5F2F3"/>
                          </a:solidFill>
                          <a:latin typeface="Segoe UI"/>
                        </a:rPr>
                        <a:t>Live system</a:t>
                      </a:r>
                    </a:p>
                  </a:txBody>
                  <a:tcPr marL="73152" marR="73152">
                    <a:solidFill>
                      <a:srgbClr val="201D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B9B3B5"/>
                          </a:solidFill>
                          <a:latin typeface="Segoe UI"/>
                        </a:rPr>
                        <a:t>/health, 4 role logins, unauthenticated call</a:t>
                      </a:r>
                    </a:p>
                  </a:txBody>
                  <a:tcPr marL="73152" marR="73152">
                    <a:solidFill>
                      <a:srgbClr val="201D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B9B3B5"/>
                          </a:solidFill>
                          <a:latin typeface="Segoe UI"/>
                        </a:rPr>
                        <a:t>Healthy · 200/200/200/200 · 401</a:t>
                      </a:r>
                    </a:p>
                  </a:txBody>
                  <a:tcPr marL="73152" marR="73152">
                    <a:solidFill>
                      <a:srgbClr val="201D1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6199632"/>
            <a:ext cx="1082009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B9B3B5"/>
                </a:solidFill>
                <a:latin typeface="Segoe UI"/>
              </a:rPr>
              <a:t>Proven, not asserted: stock 1 + two parallel orders → one 201 + one 409; stock 10 + 50 parallel orders → exactly 10 × 201, final stock 0; cancel restores stock exactly once under concurrency.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8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1074299" y="391364"/>
            <a:ext cx="497432" cy="553571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inecube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0135" y="457200"/>
            <a:ext cx="365760" cy="4218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411480"/>
            <a:ext cx="1010686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F59726"/>
                </a:solidFill>
                <a:latin typeface="Segoe UI"/>
              </a:rPr>
              <a:t>DELIVERABLES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106863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F5F2F3"/>
                </a:solidFill>
                <a:latin typeface="Segoe UI"/>
              </a:rPr>
              <a:t>Documented from the running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90472"/>
            <a:ext cx="10820095" cy="4910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0" i="0">
                <a:solidFill>
                  <a:srgbClr val="F5F2F3"/>
                </a:solidFill>
                <a:latin typeface="Segoe UI"/>
              </a:rPr>
              <a:t>• USER_MANUAL.md — every screen, photographed from a real browser against the real API, role by role. NineCube-User-Manual.docx is the same text laid out for print, with the 28 figures numbered.</a:t>
            </a:r>
          </a:p>
          <a:p>
            <a:pPr lvl="1">
              <a:spcAft>
                <a:spcPts val="600"/>
              </a:spcAft>
            </a:pPr>
            <a:r>
              <a:rPr sz="1400" b="0" i="0">
                <a:solidFill>
                  <a:srgbClr val="F59726"/>
                </a:solidFill>
                <a:latin typeface="Segoe UI"/>
              </a:rPr>
              <a:t>– tools/build_manual_docx.py writes that document from the Markdown, so the two cannot disagree.</a:t>
            </a:r>
          </a:p>
          <a:p>
            <a:pPr lvl="1">
              <a:spcAft>
                <a:spcPts val="600"/>
              </a:spcAft>
            </a:pPr>
            <a:r>
              <a:rPr sz="1400" b="0" i="0">
                <a:solidFill>
                  <a:srgbClr val="F59726"/>
                </a:solidFill>
                <a:latin typeface="Segoe UI"/>
              </a:rPr>
              <a:t>– docs/manual/ — 28 annotated PNGs with numbered callouts drawn over the measured bounding boxes of the actual controls, plus callouts.json.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B9B3B5"/>
                </a:solidFill>
                <a:latin typeface="Segoe UI"/>
              </a:rPr>
              <a:t>• web/scripts/capture-manual.mjs regenerates them; a callout whose control is not on screen is reported, so the pictures cannot drift from the words.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F5F2F3"/>
                </a:solidFill>
                <a:latin typeface="Segoe UI"/>
              </a:rPr>
              <a:t>• Every behaviour in the manual names the tests that cover it — 108 backend, 159 frontend, 107 browser.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F5F2F3"/>
                </a:solidFill>
                <a:latin typeface="Segoe UI"/>
              </a:rPr>
              <a:t>• FIX_REPORT.md records each defect as a measured cause, a fix, and the test that now holds it. README.md §15 states what AI assistance was used and how it was verified.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57D3A0"/>
                </a:solidFill>
                <a:latin typeface="Segoe UI"/>
              </a:rPr>
              <a:t>• Nothing is claimed as tested that was not executed; what could not run here is marked NOT RUN.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B9B3B5"/>
                </a:solidFill>
                <a:latin typeface="Segoe UI"/>
              </a:rPr>
              <a:t>• This deck is generated too: tools/build_deck.py draws its tables from the code and its screens from docs/manual/, and a geometry audit refuses a slide whose text will not fit.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8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1074299" y="391364"/>
            <a:ext cx="497432" cy="553571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inecube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0135" y="457200"/>
            <a:ext cx="365760" cy="4218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411480"/>
            <a:ext cx="1010686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F59726"/>
                </a:solidFill>
                <a:latin typeface="Segoe UI"/>
              </a:rPr>
              <a:t>ERROR HANDLING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106863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F5F2F3"/>
                </a:solidFill>
                <a:latin typeface="Segoe UI"/>
              </a:rPr>
              <a:t>Error handling is part of the contract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490472"/>
          <a:ext cx="10820095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6698"/>
                <a:gridCol w="3606698"/>
                <a:gridCol w="3606699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59726"/>
                          </a:solidFill>
                          <a:latin typeface="Segoe UI"/>
                        </a:rPr>
                        <a:t>Situation</a:t>
                      </a:r>
                    </a:p>
                  </a:txBody>
                  <a:tcPr marL="73152" marR="73152">
                    <a:solidFill>
                      <a:srgbClr val="2320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59726"/>
                          </a:solidFill>
                          <a:latin typeface="Segoe UI"/>
                        </a:rPr>
                        <a:t>Status</a:t>
                      </a:r>
                    </a:p>
                  </a:txBody>
                  <a:tcPr marL="73152" marR="73152">
                    <a:solidFill>
                      <a:srgbClr val="2320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59726"/>
                          </a:solidFill>
                          <a:latin typeface="Segoe UI"/>
                        </a:rPr>
                        <a:t>Body</a:t>
                      </a:r>
                    </a:p>
                  </a:txBody>
                  <a:tcPr marL="73152" marR="73152">
                    <a:solidFill>
                      <a:srgbClr val="23202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F5F2F3"/>
                          </a:solidFill>
                          <a:latin typeface="Segoe UI"/>
                        </a:rPr>
                        <a:t>Malformed / invalid payload</a:t>
                      </a:r>
                    </a:p>
                  </a:txBody>
                  <a:tcPr marL="73152" marR="73152">
                    <a:solidFill>
                      <a:srgbClr val="1B18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B9B3B5"/>
                          </a:solidFill>
                          <a:latin typeface="Segoe UI"/>
                        </a:rPr>
                        <a:t>400</a:t>
                      </a:r>
                    </a:p>
                  </a:txBody>
                  <a:tcPr marL="73152" marR="73152">
                    <a:solidFill>
                      <a:srgbClr val="1B18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B9B3B5"/>
                          </a:solidFill>
                          <a:latin typeface="Segoe UI"/>
                        </a:rPr>
                        <a:t>ValidationProblemDetails: one entry per field</a:t>
                      </a:r>
                    </a:p>
                  </a:txBody>
                  <a:tcPr marL="73152" marR="73152">
                    <a:solidFill>
                      <a:srgbClr val="1B181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F5F2F3"/>
                          </a:solidFill>
                          <a:latin typeface="Segoe UI"/>
                        </a:rPr>
                        <a:t>No or expired token</a:t>
                      </a:r>
                    </a:p>
                  </a:txBody>
                  <a:tcPr marL="73152" marR="73152">
                    <a:solidFill>
                      <a:srgbClr val="201D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B9B3B5"/>
                          </a:solidFill>
                          <a:latin typeface="Segoe UI"/>
                        </a:rPr>
                        <a:t>401</a:t>
                      </a:r>
                    </a:p>
                  </a:txBody>
                  <a:tcPr marL="73152" marR="73152">
                    <a:solidFill>
                      <a:srgbClr val="201D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B9B3B5"/>
                          </a:solidFill>
                          <a:latin typeface="Segoe UI"/>
                        </a:rPr>
                        <a:t>ProblemDetails + WWW-Authenticate</a:t>
                      </a:r>
                    </a:p>
                  </a:txBody>
                  <a:tcPr marL="73152" marR="73152">
                    <a:solidFill>
                      <a:srgbClr val="201D1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F5F2F3"/>
                          </a:solidFill>
                          <a:latin typeface="Segoe UI"/>
                        </a:rPr>
                        <a:t>Authenticated, wrong role</a:t>
                      </a:r>
                    </a:p>
                  </a:txBody>
                  <a:tcPr marL="73152" marR="73152">
                    <a:solidFill>
                      <a:srgbClr val="1B18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B9B3B5"/>
                          </a:solidFill>
                          <a:latin typeface="Segoe UI"/>
                        </a:rPr>
                        <a:t>403</a:t>
                      </a:r>
                    </a:p>
                  </a:txBody>
                  <a:tcPr marL="73152" marR="73152">
                    <a:solidFill>
                      <a:srgbClr val="1B18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B9B3B5"/>
                          </a:solidFill>
                          <a:latin typeface="Segoe UI"/>
                        </a:rPr>
                        <a:t>ProblemDetails: forbidden</a:t>
                      </a:r>
                    </a:p>
                  </a:txBody>
                  <a:tcPr marL="73152" marR="73152">
                    <a:solidFill>
                      <a:srgbClr val="1B181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F5F2F3"/>
                          </a:solidFill>
                          <a:latin typeface="Segoe UI"/>
                        </a:rPr>
                        <a:t>Unknown product or someone else's order</a:t>
                      </a:r>
                    </a:p>
                  </a:txBody>
                  <a:tcPr marL="73152" marR="73152">
                    <a:solidFill>
                      <a:srgbClr val="201D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B9B3B5"/>
                          </a:solidFill>
                          <a:latin typeface="Segoe UI"/>
                        </a:rPr>
                        <a:t>404</a:t>
                      </a:r>
                    </a:p>
                  </a:txBody>
                  <a:tcPr marL="73152" marR="73152">
                    <a:solidFill>
                      <a:srgbClr val="201D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B9B3B5"/>
                          </a:solidFill>
                          <a:latin typeface="Segoe UI"/>
                        </a:rPr>
                        <a:t>ProblemDetails — deliberately not 403, so existence is not leaked</a:t>
                      </a:r>
                    </a:p>
                  </a:txBody>
                  <a:tcPr marL="73152" marR="73152">
                    <a:solidFill>
                      <a:srgbClr val="201D1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F5F2F3"/>
                          </a:solidFill>
                          <a:latin typeface="Segoe UI"/>
                        </a:rPr>
                        <a:t>Not enough stock</a:t>
                      </a:r>
                    </a:p>
                  </a:txBody>
                  <a:tcPr marL="73152" marR="73152">
                    <a:solidFill>
                      <a:srgbClr val="1B18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B9B3B5"/>
                          </a:solidFill>
                          <a:latin typeface="Segoe UI"/>
                        </a:rPr>
                        <a:t>409</a:t>
                      </a:r>
                    </a:p>
                  </a:txBody>
                  <a:tcPr marL="73152" marR="73152">
                    <a:solidFill>
                      <a:srgbClr val="1B18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B9B3B5"/>
                          </a:solidFill>
                          <a:latin typeface="Segoe UI"/>
                        </a:rPr>
                        <a:t>ProblemDetails + shortItems[] { productId, requested, available }</a:t>
                      </a:r>
                    </a:p>
                  </a:txBody>
                  <a:tcPr marL="73152" marR="73152">
                    <a:solidFill>
                      <a:srgbClr val="1B181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F5F2F3"/>
                          </a:solidFill>
                          <a:latin typeface="Segoe UI"/>
                        </a:rPr>
                        <a:t>Invalid status transition / double restore</a:t>
                      </a:r>
                    </a:p>
                  </a:txBody>
                  <a:tcPr marL="73152" marR="73152">
                    <a:solidFill>
                      <a:srgbClr val="201D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B9B3B5"/>
                          </a:solidFill>
                          <a:latin typeface="Segoe UI"/>
                        </a:rPr>
                        <a:t>409</a:t>
                      </a:r>
                    </a:p>
                  </a:txBody>
                  <a:tcPr marL="73152" marR="73152">
                    <a:solidFill>
                      <a:srgbClr val="201D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B9B3B5"/>
                          </a:solidFill>
                          <a:latin typeface="Segoe UI"/>
                        </a:rPr>
                        <a:t>ProblemDetails: invalid state transition</a:t>
                      </a:r>
                    </a:p>
                  </a:txBody>
                  <a:tcPr marL="73152" marR="73152">
                    <a:solidFill>
                      <a:srgbClr val="201D1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F5F2F3"/>
                          </a:solidFill>
                          <a:latin typeface="Segoe UI"/>
                        </a:rPr>
                        <a:t>Unexpected failure</a:t>
                      </a:r>
                    </a:p>
                  </a:txBody>
                  <a:tcPr marL="73152" marR="73152">
                    <a:solidFill>
                      <a:srgbClr val="1B18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B9B3B5"/>
                          </a:solidFill>
                          <a:latin typeface="Segoe UI"/>
                        </a:rPr>
                        <a:t>500</a:t>
                      </a:r>
                    </a:p>
                  </a:txBody>
                  <a:tcPr marL="73152" marR="73152">
                    <a:solidFill>
                      <a:srgbClr val="1B18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B9B3B5"/>
                          </a:solidFill>
                          <a:latin typeface="Segoe UI"/>
                        </a:rPr>
                        <a:t>ProblemDetails, correlation id only — no stack trace to the client</a:t>
                      </a:r>
                    </a:p>
                  </a:txBody>
                  <a:tcPr marL="73152" marR="73152">
                    <a:solidFill>
                      <a:srgbClr val="1B181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8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1074299" y="391364"/>
            <a:ext cx="497432" cy="553571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inecube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0135" y="457200"/>
            <a:ext cx="365760" cy="4218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411480"/>
            <a:ext cx="1010686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F59726"/>
                </a:solidFill>
                <a:latin typeface="Segoe UI"/>
              </a:rPr>
              <a:t>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106863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F5F2F3"/>
                </a:solidFill>
                <a:latin typeface="Segoe UI"/>
              </a:rPr>
              <a:t>Limitations — stated, not hidden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90472"/>
            <a:ext cx="10820095" cy="4910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 i="0">
                <a:solidFill>
                  <a:srgbClr val="F5F2F3"/>
                </a:solidFill>
                <a:latin typeface="Segoe UI"/>
              </a:rPr>
              <a:t>• No payment processing and no payment verification: orders start Pending and Staff confirm them.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F5F2F3"/>
                </a:solidFill>
                <a:latin typeface="Segoe UI"/>
              </a:rPr>
              <a:t>• No email/SMS, no delivery tracking, no returns or refunds.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F5F2F3"/>
                </a:solidFill>
                <a:latin typeface="Segoe UI"/>
              </a:rPr>
              <a:t>• No rate limiting, no refresh tokens (30-minute access tokens; the SPA keeps them in sessionStorage).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F5F2F3"/>
                </a:solidFill>
                <a:latin typeface="Segoe UI"/>
              </a:rPr>
              <a:t>• No caching layer — deliberate on stock-sensitive data.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F5F2F3"/>
                </a:solidFill>
                <a:latin typeface="Segoe UI"/>
              </a:rPr>
              <a:t>• No multi-warehouse, multi-currency or tax handling; users are deactivated, never deleted.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F5F2F3"/>
                </a:solidFill>
                <a:latin typeface="Segoe UI"/>
              </a:rPr>
              <a:t>• Backups are a documented database procedure (FULL/DIFF/LOG + restore drills), not application code.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8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1074299" y="391364"/>
            <a:ext cx="497432" cy="553571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inecube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0135" y="457200"/>
            <a:ext cx="365760" cy="4218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411480"/>
            <a:ext cx="1010686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F59726"/>
                </a:solidFill>
                <a:latin typeface="Segoe UI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106863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F5F2F3"/>
                </a:solidFill>
                <a:latin typeface="Segoe UI"/>
              </a:rPr>
              <a:t>What production would add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90472"/>
            <a:ext cx="10820095" cy="4910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0" i="0">
                <a:solidFill>
                  <a:srgbClr val="F5F2F3"/>
                </a:solidFill>
                <a:latin typeface="Segoe UI"/>
              </a:rPr>
              <a:t>• Payments + verification: hosted payment intent, outbox-backed webhook, PaymentStatus on the order.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F5F2F3"/>
                </a:solidFill>
                <a:latin typeface="Segoe UI"/>
              </a:rPr>
              <a:t>• Transactional outbox for notifications and integrations — a mail outage must never roll back an order.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F5F2F3"/>
                </a:solidFill>
                <a:latin typeface="Segoe UI"/>
              </a:rPr>
              <a:t>• Refresh tokens in httpOnly cookies with rotation and reuse detection; access tokens down to minutes.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F5F2F3"/>
                </a:solidFill>
                <a:latin typeface="Segoe UI"/>
              </a:rPr>
              <a:t>• Reservations with a TTL plus a sweeper, so an abandoned basket releases stock.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F5F2F3"/>
                </a:solidFill>
                <a:latin typeface="Segoe UI"/>
              </a:rPr>
              <a:t>• Rate limiting per IP and per account on login, per customer on order placement.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F5F2F3"/>
                </a:solidFill>
                <a:latin typeface="Segoe UI"/>
              </a:rPr>
              <a:t>• OpenTelemetry traces SPA → API → SQL; alert on the 409 ratio and p95 placement latency.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F5F2F3"/>
                </a:solidFill>
                <a:latin typeface="Segoe UI"/>
              </a:rPr>
              <a:t>• CI/CD: build, tests against a container SQL Server, Playwright smoke, gated migrations as a release stage.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F5F2F3"/>
                </a:solidFill>
                <a:latin typeface="Segoe UI"/>
              </a:rPr>
              <a:t>• Secrets in a managed vault with rotation; idempotency-key retention policy.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8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1074299" y="391364"/>
            <a:ext cx="497432" cy="553571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inecube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0135" y="457200"/>
            <a:ext cx="365760" cy="4218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411480"/>
            <a:ext cx="1010686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F59726"/>
                </a:solidFill>
                <a:latin typeface="Segoe UI"/>
              </a:rPr>
              <a:t>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106863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F5F2F3"/>
                </a:solidFill>
                <a:latin typeface="Segoe UI"/>
              </a:rPr>
              <a:t>Run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90472"/>
            <a:ext cx="10820095" cy="4910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0" i="0">
                <a:solidFill>
                  <a:srgbClr val="F59726"/>
                </a:solidFill>
                <a:latin typeface="Segoe UI"/>
              </a:rPr>
              <a:t>• API   http://127.0.0.1:5080   (Swagger at /swagger)      SPA   http://127.0.0.1:5173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F5F2F3"/>
                </a:solidFill>
                <a:latin typeface="Segoe UI"/>
              </a:rPr>
              <a:t>• 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F5F2F3"/>
                </a:solidFill>
                <a:latin typeface="Segoe UI"/>
              </a:rPr>
              <a:t>• Demo logins (Development seed; passwords come from NINECUBE_SEED_PASSWORD — no secret is committed):</a:t>
            </a:r>
          </a:p>
          <a:p>
            <a:pPr lvl="1">
              <a:spcAft>
                <a:spcPts val="600"/>
              </a:spcAft>
            </a:pPr>
            <a:r>
              <a:rPr sz="1400" b="0" i="0">
                <a:solidFill>
                  <a:srgbClr val="B9B3B5"/>
                </a:solidFill>
                <a:latin typeface="Segoe UI"/>
              </a:rPr>
              <a:t>– customer@ninecube.demo · staff@ninecube.demo · inventory@ninecube.demo · admin@ninecube.demo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F5F2F3"/>
                </a:solidFill>
                <a:latin typeface="Segoe UI"/>
              </a:rPr>
              <a:t>• 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F5F2F3"/>
                </a:solidFill>
                <a:latin typeface="Segoe UI"/>
              </a:rPr>
              <a:t>• Database: docker compose up -d (SQL Server 2022) or any SQL Server / LocalDB via ConnectionStrings__Default.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F5F2F3"/>
                </a:solidFill>
                <a:latin typeface="Segoe UI"/>
              </a:rPr>
              <a:t>• Tests: dotnet test src/NineCube.Tests · cd web &amp;&amp; npm run test:run · npm run e2e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57D3A0"/>
                </a:solidFill>
                <a:latin typeface="Segoe UI"/>
              </a:rPr>
              <a:t>• Everything above was executed here; TESTING.md holds the raw output and the database modes, FIX_REPORT.md the defects found and fixed while verifying, USER_MANUAL.md the screens.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